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Lst>
  <p:notesMasterIdLst>
    <p:notesMasterId r:id="rId5"/>
  </p:notesMasterIdLst>
  <p:sldIdLst>
    <p:sldId id="256" r:id="rId4"/>
  </p:sldIdLst>
  <p:sldSz cx="43891200" cy="32918400"/>
  <p:notesSz cx="7315200" cy="9601200"/>
  <p:defaultTextStyle>
    <a:defPPr>
      <a:defRPr lang="en-US"/>
    </a:defPPr>
    <a:lvl1pPr algn="l" rtl="0" fontAlgn="base">
      <a:spcBef>
        <a:spcPct val="0"/>
      </a:spcBef>
      <a:spcAft>
        <a:spcPct val="0"/>
      </a:spcAft>
      <a:defRPr sz="2900" kern="1200">
        <a:solidFill>
          <a:schemeClr val="tx1"/>
        </a:solidFill>
        <a:latin typeface="Arial Narrow" pitchFamily="34" charset="0"/>
        <a:ea typeface="+mn-ea"/>
        <a:cs typeface="+mn-cs"/>
      </a:defRPr>
    </a:lvl1pPr>
    <a:lvl2pPr marL="457200" algn="l" rtl="0" fontAlgn="base">
      <a:spcBef>
        <a:spcPct val="0"/>
      </a:spcBef>
      <a:spcAft>
        <a:spcPct val="0"/>
      </a:spcAft>
      <a:defRPr sz="2900" kern="1200">
        <a:solidFill>
          <a:schemeClr val="tx1"/>
        </a:solidFill>
        <a:latin typeface="Arial Narrow" pitchFamily="34" charset="0"/>
        <a:ea typeface="+mn-ea"/>
        <a:cs typeface="+mn-cs"/>
      </a:defRPr>
    </a:lvl2pPr>
    <a:lvl3pPr marL="914400" algn="l" rtl="0" fontAlgn="base">
      <a:spcBef>
        <a:spcPct val="0"/>
      </a:spcBef>
      <a:spcAft>
        <a:spcPct val="0"/>
      </a:spcAft>
      <a:defRPr sz="2900" kern="1200">
        <a:solidFill>
          <a:schemeClr val="tx1"/>
        </a:solidFill>
        <a:latin typeface="Arial Narrow" pitchFamily="34" charset="0"/>
        <a:ea typeface="+mn-ea"/>
        <a:cs typeface="+mn-cs"/>
      </a:defRPr>
    </a:lvl3pPr>
    <a:lvl4pPr marL="1371600" algn="l" rtl="0" fontAlgn="base">
      <a:spcBef>
        <a:spcPct val="0"/>
      </a:spcBef>
      <a:spcAft>
        <a:spcPct val="0"/>
      </a:spcAft>
      <a:defRPr sz="2900" kern="1200">
        <a:solidFill>
          <a:schemeClr val="tx1"/>
        </a:solidFill>
        <a:latin typeface="Arial Narrow" pitchFamily="34" charset="0"/>
        <a:ea typeface="+mn-ea"/>
        <a:cs typeface="+mn-cs"/>
      </a:defRPr>
    </a:lvl4pPr>
    <a:lvl5pPr marL="1828800" algn="l" rtl="0" fontAlgn="base">
      <a:spcBef>
        <a:spcPct val="0"/>
      </a:spcBef>
      <a:spcAft>
        <a:spcPct val="0"/>
      </a:spcAft>
      <a:defRPr sz="2900" kern="1200">
        <a:solidFill>
          <a:schemeClr val="tx1"/>
        </a:solidFill>
        <a:latin typeface="Arial Narrow" pitchFamily="34" charset="0"/>
        <a:ea typeface="+mn-ea"/>
        <a:cs typeface="+mn-cs"/>
      </a:defRPr>
    </a:lvl5pPr>
    <a:lvl6pPr marL="2286000" algn="l" defTabSz="914400" rtl="0" eaLnBrk="1" latinLnBrk="0" hangingPunct="1">
      <a:defRPr sz="2900" kern="1200">
        <a:solidFill>
          <a:schemeClr val="tx1"/>
        </a:solidFill>
        <a:latin typeface="Arial Narrow" pitchFamily="34" charset="0"/>
        <a:ea typeface="+mn-ea"/>
        <a:cs typeface="+mn-cs"/>
      </a:defRPr>
    </a:lvl6pPr>
    <a:lvl7pPr marL="2743200" algn="l" defTabSz="914400" rtl="0" eaLnBrk="1" latinLnBrk="0" hangingPunct="1">
      <a:defRPr sz="2900" kern="1200">
        <a:solidFill>
          <a:schemeClr val="tx1"/>
        </a:solidFill>
        <a:latin typeface="Arial Narrow" pitchFamily="34" charset="0"/>
        <a:ea typeface="+mn-ea"/>
        <a:cs typeface="+mn-cs"/>
      </a:defRPr>
    </a:lvl7pPr>
    <a:lvl8pPr marL="3200400" algn="l" defTabSz="914400" rtl="0" eaLnBrk="1" latinLnBrk="0" hangingPunct="1">
      <a:defRPr sz="2900" kern="1200">
        <a:solidFill>
          <a:schemeClr val="tx1"/>
        </a:solidFill>
        <a:latin typeface="Arial Narrow" pitchFamily="34" charset="0"/>
        <a:ea typeface="+mn-ea"/>
        <a:cs typeface="+mn-cs"/>
      </a:defRPr>
    </a:lvl8pPr>
    <a:lvl9pPr marL="3657600" algn="l" defTabSz="914400" rtl="0" eaLnBrk="1" latinLnBrk="0" hangingPunct="1">
      <a:defRPr sz="2900"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3552">
          <p15:clr>
            <a:srgbClr val="A4A3A4"/>
          </p15:clr>
        </p15:guide>
        <p15:guide id="2" orient="horz" pos="20285">
          <p15:clr>
            <a:srgbClr val="A4A3A4"/>
          </p15:clr>
        </p15:guide>
        <p15:guide id="3" pos="437">
          <p15:clr>
            <a:srgbClr val="A4A3A4"/>
          </p15:clr>
        </p15:guide>
        <p15:guide id="4" pos="6725">
          <p15:clr>
            <a:srgbClr val="A4A3A4"/>
          </p15:clr>
        </p15:guide>
        <p15:guide id="5" pos="7238">
          <p15:clr>
            <a:srgbClr val="A4A3A4"/>
          </p15:clr>
        </p15:guide>
        <p15:guide id="6" pos="13526">
          <p15:clr>
            <a:srgbClr val="A4A3A4"/>
          </p15:clr>
        </p15:guide>
        <p15:guide id="7" pos="14030">
          <p15:clr>
            <a:srgbClr val="A4A3A4"/>
          </p15:clr>
        </p15:guide>
        <p15:guide id="8" pos="20318">
          <p15:clr>
            <a:srgbClr val="A4A3A4"/>
          </p15:clr>
        </p15:guide>
        <p15:guide id="9" pos="20837">
          <p15:clr>
            <a:srgbClr val="A4A3A4"/>
          </p15:clr>
        </p15:guide>
        <p15:guide id="10" pos="2712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66FF"/>
    <a:srgbClr val="009900"/>
    <a:srgbClr val="F2B800"/>
    <a:srgbClr val="993300"/>
    <a:srgbClr val="CC0000"/>
    <a:srgbClr val="FFFFFF"/>
    <a:srgbClr val="FF9900"/>
    <a:srgbClr val="3399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591" autoAdjust="0"/>
    <p:restoredTop sz="99458" autoAdjust="0"/>
  </p:normalViewPr>
  <p:slideViewPr>
    <p:cSldViewPr snapToGrid="0" snapToObjects="1">
      <p:cViewPr varScale="1">
        <p:scale>
          <a:sx n="23" d="100"/>
          <a:sy n="23" d="100"/>
        </p:scale>
        <p:origin x="2664" y="288"/>
      </p:cViewPr>
      <p:guideLst>
        <p:guide orient="horz" pos="3552"/>
        <p:guide orient="horz" pos="20285"/>
        <p:guide pos="437"/>
        <p:guide pos="6725"/>
        <p:guide pos="7238"/>
        <p:guide pos="13526"/>
        <p:guide pos="14030"/>
        <p:guide pos="20318"/>
        <p:guide pos="20837"/>
        <p:guide pos="27125"/>
      </p:guideLst>
    </p:cSldViewPr>
  </p:slideViewPr>
  <p:notesTextViewPr>
    <p:cViewPr>
      <p:scale>
        <a:sx n="100" d="100"/>
        <a:sy n="100" d="100"/>
      </p:scale>
      <p:origin x="0" y="0"/>
    </p:cViewPr>
  </p:notesTextViewPr>
  <p:sorterViewPr>
    <p:cViewPr>
      <p:scale>
        <a:sx n="66" d="100"/>
        <a:sy n="66" d="100"/>
      </p:scale>
      <p:origin x="0" y="21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atin typeface="Arial" charset="0"/>
              </a:defRPr>
            </a:lvl1pPr>
          </a:lstStyle>
          <a:p>
            <a:endParaRPr lang="en-US"/>
          </a:p>
        </p:txBody>
      </p:sp>
      <p:sp>
        <p:nvSpPr>
          <p:cNvPr id="150531"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150533"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atin typeface="Arial" charset="0"/>
              </a:defRPr>
            </a:lvl1pPr>
          </a:lstStyle>
          <a:p>
            <a:endParaRPr lang="en-US"/>
          </a:p>
        </p:txBody>
      </p:sp>
      <p:sp>
        <p:nvSpPr>
          <p:cNvPr id="150535"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atin typeface="Arial" charset="0"/>
              </a:defRPr>
            </a:lvl1pPr>
          </a:lstStyle>
          <a:p>
            <a:fld id="{D37A9257-5390-46F8-AF7E-B3F547F6D668}" type="slidenum">
              <a:rPr lang="en-US"/>
              <a:pPr/>
              <a:t>‹#›</a:t>
            </a:fld>
            <a:endParaRPr lang="en-US"/>
          </a:p>
        </p:txBody>
      </p:sp>
    </p:spTree>
    <p:extLst>
      <p:ext uri="{BB962C8B-B14F-4D97-AF65-F5344CB8AC3E}">
        <p14:creationId xmlns:p14="http://schemas.microsoft.com/office/powerpoint/2010/main" val="40181649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p>
            <a:fld id="{409899A1-15E7-48C9-B300-DF209FC54116}" type="slidenum">
              <a:rPr lang="en-US"/>
              <a:pPr/>
              <a:t>1</a:t>
            </a:fld>
            <a:endParaRPr 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8" y="5638800"/>
            <a:ext cx="4910137" cy="26563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0"/>
            <a:ext cx="4911725" cy="26563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8" y="1273175"/>
            <a:ext cx="31491237" cy="3092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8" y="5638800"/>
            <a:ext cx="4910137" cy="26563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0"/>
            <a:ext cx="4911725" cy="26563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8" y="1273175"/>
            <a:ext cx="31491237" cy="3092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8" y="5638800"/>
            <a:ext cx="21018500" cy="26563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864638" y="5638800"/>
            <a:ext cx="21020087" cy="26563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8" y="1273175"/>
            <a:ext cx="31491237" cy="3092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6052" name="Rectangle 36"/>
          <p:cNvSpPr>
            <a:spLocks noChangeArrowheads="1"/>
          </p:cNvSpPr>
          <p:nvPr userDrawn="1"/>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86049" name="Rectangle 33"/>
          <p:cNvSpPr>
            <a:spLocks noChangeArrowheads="1"/>
          </p:cNvSpPr>
          <p:nvPr userDrawn="1"/>
        </p:nvSpPr>
        <p:spPr bwMode="auto">
          <a:xfrm>
            <a:off x="693738" y="5638800"/>
            <a:ext cx="9974262" cy="26563638"/>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86025" name="Rectangle 9"/>
          <p:cNvSpPr>
            <a:spLocks noChangeArrowheads="1"/>
          </p:cNvSpPr>
          <p:nvPr userDrawn="1"/>
        </p:nvSpPr>
        <p:spPr bwMode="auto">
          <a:xfrm>
            <a:off x="0" y="4800600"/>
            <a:ext cx="43891200" cy="130175"/>
          </a:xfrm>
          <a:prstGeom prst="rect">
            <a:avLst/>
          </a:prstGeom>
          <a:solidFill>
            <a:srgbClr val="660000"/>
          </a:solidFill>
          <a:ln w="9525">
            <a:noFill/>
            <a:miter lim="800000"/>
            <a:headEnd/>
            <a:tailEnd/>
          </a:ln>
          <a:effectLst/>
        </p:spPr>
        <p:txBody>
          <a:bodyPr wrap="none" anchor="ctr"/>
          <a:lstStyle/>
          <a:p>
            <a:endParaRPr lang="en-US"/>
          </a:p>
        </p:txBody>
      </p:sp>
      <p:sp>
        <p:nvSpPr>
          <p:cNvPr id="2053" name="Rectangle 15"/>
          <p:cNvSpPr>
            <a:spLocks noGrp="1" noChangeArrowheads="1"/>
          </p:cNvSpPr>
          <p:nvPr>
            <p:ph type="title"/>
          </p:nvPr>
        </p:nvSpPr>
        <p:spPr bwMode="auto">
          <a:xfrm>
            <a:off x="960438" y="1273175"/>
            <a:ext cx="41924287" cy="2201863"/>
          </a:xfrm>
          <a:prstGeom prst="rect">
            <a:avLst/>
          </a:prstGeom>
          <a:noFill/>
          <a:ln w="9525">
            <a:noFill/>
            <a:miter lim="800000"/>
            <a:headEnd/>
            <a:tailEnd/>
          </a:ln>
        </p:spPr>
        <p:txBody>
          <a:bodyPr vert="horz" wrap="square" lIns="91267" tIns="45624" rIns="91267" bIns="45624" numCol="1" anchor="ctr" anchorCtr="0" compatLnSpc="1">
            <a:prstTxWarp prst="textNoShape">
              <a:avLst/>
            </a:prstTxWarp>
          </a:bodyPr>
          <a:lstStyle/>
          <a:p>
            <a:pPr lvl="0"/>
            <a:r>
              <a:rPr lang="en-US"/>
              <a:t>Click to edit Master title style</a:t>
            </a:r>
          </a:p>
        </p:txBody>
      </p:sp>
      <p:sp>
        <p:nvSpPr>
          <p:cNvPr id="2054" name="Rectangle 16"/>
          <p:cNvSpPr>
            <a:spLocks noGrp="1" noChangeArrowheads="1"/>
          </p:cNvSpPr>
          <p:nvPr>
            <p:ph type="body" idx="1"/>
          </p:nvPr>
        </p:nvSpPr>
        <p:spPr bwMode="auto">
          <a:xfrm>
            <a:off x="693738" y="5638800"/>
            <a:ext cx="9974262" cy="26563638"/>
          </a:xfrm>
          <a:prstGeom prst="rect">
            <a:avLst/>
          </a:prstGeom>
          <a:noFill/>
          <a:ln w="9525">
            <a:noFill/>
            <a:miter lim="800000"/>
            <a:headEnd/>
            <a:tailEnd/>
          </a:ln>
        </p:spPr>
        <p:txBody>
          <a:bodyPr vert="horz" wrap="square" lIns="456408" tIns="456408" rIns="456408" bIns="456408" numCol="1" anchor="t" anchorCtr="0" compatLnSpc="1">
            <a:prstTxWarp prst="textNoShape">
              <a:avLst/>
            </a:prstTxWarp>
          </a:bodyPr>
          <a:lstStyle/>
          <a:p>
            <a:pPr lvl="0"/>
            <a:r>
              <a:rPr lang="en-US"/>
              <a:t>Click to edit Master text styles</a:t>
            </a:r>
          </a:p>
          <a:p>
            <a:pPr lvl="1"/>
            <a:r>
              <a:rPr lang="en-US"/>
              <a:t>Second level</a:t>
            </a:r>
          </a:p>
        </p:txBody>
      </p:sp>
      <p:sp>
        <p:nvSpPr>
          <p:cNvPr id="86041" name="Rectangle 25"/>
          <p:cNvSpPr>
            <a:spLocks noChangeArrowheads="1"/>
          </p:cNvSpPr>
          <p:nvPr userDrawn="1"/>
        </p:nvSpPr>
        <p:spPr bwMode="auto">
          <a:xfrm>
            <a:off x="0" y="0"/>
            <a:ext cx="43891200" cy="32918400"/>
          </a:xfrm>
          <a:prstGeom prst="rect">
            <a:avLst/>
          </a:prstGeom>
          <a:noFill/>
          <a:ln w="3175">
            <a:solidFill>
              <a:schemeClr val="tx2"/>
            </a:solidFill>
            <a:miter lim="800000"/>
            <a:headEnd/>
            <a:tailEnd/>
          </a:ln>
          <a:effectLst/>
        </p:spPr>
        <p:txBody>
          <a:bodyPr wrap="none" anchor="ctr"/>
          <a:lstStyle/>
          <a:p>
            <a:endParaRPr lang="en-US"/>
          </a:p>
        </p:txBody>
      </p:sp>
      <p:sp>
        <p:nvSpPr>
          <p:cNvPr id="86048" name="Rectangle 32"/>
          <p:cNvSpPr>
            <a:spLocks noChangeArrowheads="1"/>
          </p:cNvSpPr>
          <p:nvPr userDrawn="1"/>
        </p:nvSpPr>
        <p:spPr bwMode="auto">
          <a:xfrm>
            <a:off x="11490325" y="5638800"/>
            <a:ext cx="9982200" cy="26563638"/>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86050" name="Rectangle 34"/>
          <p:cNvSpPr>
            <a:spLocks noChangeArrowheads="1"/>
          </p:cNvSpPr>
          <p:nvPr userDrawn="1"/>
        </p:nvSpPr>
        <p:spPr bwMode="auto">
          <a:xfrm>
            <a:off x="22272625" y="5638800"/>
            <a:ext cx="9982200" cy="26563638"/>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86051" name="Rectangle 35"/>
          <p:cNvSpPr>
            <a:spLocks noChangeArrowheads="1"/>
          </p:cNvSpPr>
          <p:nvPr userDrawn="1"/>
        </p:nvSpPr>
        <p:spPr bwMode="auto">
          <a:xfrm>
            <a:off x="33078738" y="5638800"/>
            <a:ext cx="9982200" cy="26563638"/>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eaLnBrk="0" fontAlgn="base" hangingPunct="0">
        <a:spcBef>
          <a:spcPct val="0"/>
        </a:spcBef>
        <a:spcAft>
          <a:spcPct val="0"/>
        </a:spcAft>
        <a:defRPr sz="8600">
          <a:solidFill>
            <a:schemeClr val="tx2"/>
          </a:solidFill>
          <a:latin typeface="+mj-lt"/>
          <a:ea typeface="+mj-ea"/>
          <a:cs typeface="+mj-cs"/>
        </a:defRPr>
      </a:lvl1pPr>
      <a:lvl2pPr algn="ctr" rtl="0" eaLnBrk="0" fontAlgn="base" hangingPunct="0">
        <a:spcBef>
          <a:spcPct val="0"/>
        </a:spcBef>
        <a:spcAft>
          <a:spcPct val="0"/>
        </a:spcAft>
        <a:defRPr sz="8600">
          <a:solidFill>
            <a:schemeClr val="tx2"/>
          </a:solidFill>
          <a:latin typeface="Arial Black" pitchFamily="34" charset="0"/>
        </a:defRPr>
      </a:lvl2pPr>
      <a:lvl3pPr algn="ctr" rtl="0" eaLnBrk="0" fontAlgn="base" hangingPunct="0">
        <a:spcBef>
          <a:spcPct val="0"/>
        </a:spcBef>
        <a:spcAft>
          <a:spcPct val="0"/>
        </a:spcAft>
        <a:defRPr sz="8600">
          <a:solidFill>
            <a:schemeClr val="tx2"/>
          </a:solidFill>
          <a:latin typeface="Arial Black" pitchFamily="34" charset="0"/>
        </a:defRPr>
      </a:lvl3pPr>
      <a:lvl4pPr algn="ctr" rtl="0" eaLnBrk="0" fontAlgn="base" hangingPunct="0">
        <a:spcBef>
          <a:spcPct val="0"/>
        </a:spcBef>
        <a:spcAft>
          <a:spcPct val="0"/>
        </a:spcAft>
        <a:defRPr sz="8600">
          <a:solidFill>
            <a:schemeClr val="tx2"/>
          </a:solidFill>
          <a:latin typeface="Arial Black" pitchFamily="34" charset="0"/>
        </a:defRPr>
      </a:lvl4pPr>
      <a:lvl5pPr algn="ctr" rtl="0" eaLnBrk="0" fontAlgn="base" hangingPunct="0">
        <a:spcBef>
          <a:spcPct val="0"/>
        </a:spcBef>
        <a:spcAft>
          <a:spcPct val="0"/>
        </a:spcAft>
        <a:defRPr sz="8600">
          <a:solidFill>
            <a:schemeClr val="tx2"/>
          </a:solidFill>
          <a:latin typeface="Arial Black" pitchFamily="34" charset="0"/>
        </a:defRPr>
      </a:lvl5pPr>
      <a:lvl6pPr marL="457200" algn="ctr" rtl="0" fontAlgn="base">
        <a:spcBef>
          <a:spcPct val="0"/>
        </a:spcBef>
        <a:spcAft>
          <a:spcPct val="0"/>
        </a:spcAft>
        <a:defRPr sz="8600">
          <a:solidFill>
            <a:schemeClr val="tx2"/>
          </a:solidFill>
          <a:latin typeface="Arial Black" pitchFamily="34" charset="0"/>
        </a:defRPr>
      </a:lvl6pPr>
      <a:lvl7pPr marL="914400" algn="ctr" rtl="0" fontAlgn="base">
        <a:spcBef>
          <a:spcPct val="0"/>
        </a:spcBef>
        <a:spcAft>
          <a:spcPct val="0"/>
        </a:spcAft>
        <a:defRPr sz="8600">
          <a:solidFill>
            <a:schemeClr val="tx2"/>
          </a:solidFill>
          <a:latin typeface="Arial Black" pitchFamily="34" charset="0"/>
        </a:defRPr>
      </a:lvl7pPr>
      <a:lvl8pPr marL="1371600" algn="ctr" rtl="0" fontAlgn="base">
        <a:spcBef>
          <a:spcPct val="0"/>
        </a:spcBef>
        <a:spcAft>
          <a:spcPct val="0"/>
        </a:spcAft>
        <a:defRPr sz="8600">
          <a:solidFill>
            <a:schemeClr val="tx2"/>
          </a:solidFill>
          <a:latin typeface="Arial Black" pitchFamily="34" charset="0"/>
        </a:defRPr>
      </a:lvl8pPr>
      <a:lvl9pPr marL="1828800" algn="ctr"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0226" name="Rectangle 2"/>
          <p:cNvSpPr>
            <a:spLocks noChangeArrowheads="1"/>
          </p:cNvSpPr>
          <p:nvPr userDrawn="1"/>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0227" name="Rectangle 3"/>
          <p:cNvSpPr>
            <a:spLocks noChangeArrowheads="1"/>
          </p:cNvSpPr>
          <p:nvPr userDrawn="1"/>
        </p:nvSpPr>
        <p:spPr bwMode="auto">
          <a:xfrm>
            <a:off x="693738" y="5638800"/>
            <a:ext cx="9974262" cy="26563638"/>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0228" name="Rectangle 4"/>
          <p:cNvSpPr>
            <a:spLocks noChangeArrowheads="1"/>
          </p:cNvSpPr>
          <p:nvPr userDrawn="1"/>
        </p:nvSpPr>
        <p:spPr bwMode="auto">
          <a:xfrm>
            <a:off x="0" y="4800600"/>
            <a:ext cx="43891200" cy="130175"/>
          </a:xfrm>
          <a:prstGeom prst="rect">
            <a:avLst/>
          </a:prstGeom>
          <a:solidFill>
            <a:srgbClr val="660000"/>
          </a:solidFill>
          <a:ln w="9525">
            <a:noFill/>
            <a:miter lim="800000"/>
            <a:headEnd/>
            <a:tailEnd/>
          </a:ln>
          <a:effectLst/>
        </p:spPr>
        <p:txBody>
          <a:bodyPr wrap="none" anchor="ctr"/>
          <a:lstStyle/>
          <a:p>
            <a:endParaRPr lang="en-US"/>
          </a:p>
        </p:txBody>
      </p:sp>
      <p:sp>
        <p:nvSpPr>
          <p:cNvPr id="180229" name="Text Box 5"/>
          <p:cNvSpPr txBox="1">
            <a:spLocks noChangeArrowheads="1"/>
          </p:cNvSpPr>
          <p:nvPr userDrawn="1"/>
        </p:nvSpPr>
        <p:spPr bwMode="auto">
          <a:xfrm>
            <a:off x="609600" y="32445325"/>
            <a:ext cx="2514600" cy="315913"/>
          </a:xfrm>
          <a:prstGeom prst="rect">
            <a:avLst/>
          </a:prstGeom>
          <a:noFill/>
          <a:ln w="9525">
            <a:noFill/>
            <a:miter lim="800000"/>
            <a:headEnd/>
            <a:tailEnd/>
          </a:ln>
          <a:effectLst/>
        </p:spPr>
        <p:txBody>
          <a:bodyPr lIns="91267" tIns="45624" rIns="91267" bIns="45624">
            <a:spAutoFit/>
          </a:bodyPr>
          <a:lstStyle/>
          <a:p>
            <a:pPr eaLnBrk="0" hangingPunct="0">
              <a:lnSpc>
                <a:spcPct val="65000"/>
              </a:lnSpc>
              <a:spcBef>
                <a:spcPct val="50000"/>
              </a:spcBef>
              <a:defRPr/>
            </a:pPr>
            <a:r>
              <a:rPr lang="en-US" sz="500" b="1">
                <a:solidFill>
                  <a:schemeClr val="bg2"/>
                </a:solidFill>
                <a:latin typeface="Arial" charset="0"/>
              </a:rPr>
              <a:t>POSTER TEMPLATE BY:</a:t>
            </a:r>
          </a:p>
          <a:p>
            <a:pPr eaLnBrk="0" hangingPunct="0">
              <a:lnSpc>
                <a:spcPct val="65000"/>
              </a:lnSpc>
              <a:spcBef>
                <a:spcPct val="50000"/>
              </a:spcBef>
              <a:defRPr/>
            </a:pPr>
            <a:r>
              <a:rPr lang="en-US" sz="1000" b="1">
                <a:solidFill>
                  <a:schemeClr val="bg2"/>
                </a:solidFill>
                <a:latin typeface="Arial" charset="0"/>
              </a:rPr>
              <a:t>www.PosterPresentations.com</a:t>
            </a:r>
          </a:p>
        </p:txBody>
      </p:sp>
      <p:sp>
        <p:nvSpPr>
          <p:cNvPr id="3078" name="Rectangle 6"/>
          <p:cNvSpPr>
            <a:spLocks noGrp="1" noChangeArrowheads="1"/>
          </p:cNvSpPr>
          <p:nvPr>
            <p:ph type="title"/>
          </p:nvPr>
        </p:nvSpPr>
        <p:spPr bwMode="auto">
          <a:xfrm>
            <a:off x="960438" y="1273175"/>
            <a:ext cx="41924287" cy="2201863"/>
          </a:xfrm>
          <a:prstGeom prst="rect">
            <a:avLst/>
          </a:prstGeom>
          <a:noFill/>
          <a:ln w="9525">
            <a:noFill/>
            <a:miter lim="800000"/>
            <a:headEnd/>
            <a:tailEnd/>
          </a:ln>
        </p:spPr>
        <p:txBody>
          <a:bodyPr vert="horz" wrap="square" lIns="91267" tIns="45624" rIns="91267" bIns="45624" numCol="1" anchor="ctr" anchorCtr="0" compatLnSpc="1">
            <a:prstTxWarp prst="textNoShape">
              <a:avLst/>
            </a:prstTxWarp>
          </a:bodyPr>
          <a:lstStyle/>
          <a:p>
            <a:pPr lvl="0"/>
            <a:r>
              <a:rPr lang="en-US"/>
              <a:t>Click to edit Master title style</a:t>
            </a:r>
          </a:p>
        </p:txBody>
      </p:sp>
      <p:sp>
        <p:nvSpPr>
          <p:cNvPr id="3079" name="Rectangle 7"/>
          <p:cNvSpPr>
            <a:spLocks noGrp="1" noChangeArrowheads="1"/>
          </p:cNvSpPr>
          <p:nvPr>
            <p:ph type="body" idx="1"/>
          </p:nvPr>
        </p:nvSpPr>
        <p:spPr bwMode="auto">
          <a:xfrm>
            <a:off x="693738" y="5638800"/>
            <a:ext cx="9974262" cy="26563638"/>
          </a:xfrm>
          <a:prstGeom prst="rect">
            <a:avLst/>
          </a:prstGeom>
          <a:noFill/>
          <a:ln w="9525">
            <a:noFill/>
            <a:miter lim="800000"/>
            <a:headEnd/>
            <a:tailEnd/>
          </a:ln>
        </p:spPr>
        <p:txBody>
          <a:bodyPr vert="horz" wrap="square" lIns="456408" tIns="456408" rIns="456408" bIns="456408" numCol="1" anchor="t" anchorCtr="0" compatLnSpc="1">
            <a:prstTxWarp prst="textNoShape">
              <a:avLst/>
            </a:prstTxWarp>
          </a:bodyPr>
          <a:lstStyle/>
          <a:p>
            <a:pPr lvl="0"/>
            <a:r>
              <a:rPr lang="en-US"/>
              <a:t>Click to edit Master text styles</a:t>
            </a:r>
          </a:p>
          <a:p>
            <a:pPr lvl="1"/>
            <a:r>
              <a:rPr lang="en-US"/>
              <a:t>Second level</a:t>
            </a:r>
          </a:p>
        </p:txBody>
      </p:sp>
      <p:sp>
        <p:nvSpPr>
          <p:cNvPr id="180232" name="Rectangle 8"/>
          <p:cNvSpPr>
            <a:spLocks noChangeArrowheads="1"/>
          </p:cNvSpPr>
          <p:nvPr userDrawn="1"/>
        </p:nvSpPr>
        <p:spPr bwMode="auto">
          <a:xfrm>
            <a:off x="0" y="0"/>
            <a:ext cx="43891200" cy="32918400"/>
          </a:xfrm>
          <a:prstGeom prst="rect">
            <a:avLst/>
          </a:prstGeom>
          <a:noFill/>
          <a:ln w="3175">
            <a:solidFill>
              <a:schemeClr val="tx2"/>
            </a:solidFill>
            <a:miter lim="800000"/>
            <a:headEnd/>
            <a:tailEnd/>
          </a:ln>
          <a:effectLst/>
        </p:spPr>
        <p:txBody>
          <a:bodyPr wrap="none" anchor="ctr"/>
          <a:lstStyle/>
          <a:p>
            <a:endParaRPr lang="en-US"/>
          </a:p>
        </p:txBody>
      </p:sp>
      <p:sp>
        <p:nvSpPr>
          <p:cNvPr id="180233" name="Rectangle 9"/>
          <p:cNvSpPr>
            <a:spLocks noChangeArrowheads="1"/>
          </p:cNvSpPr>
          <p:nvPr userDrawn="1"/>
        </p:nvSpPr>
        <p:spPr bwMode="auto">
          <a:xfrm>
            <a:off x="11490325" y="5638800"/>
            <a:ext cx="20764500" cy="26563638"/>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0235" name="Rectangle 11"/>
          <p:cNvSpPr>
            <a:spLocks noChangeArrowheads="1"/>
          </p:cNvSpPr>
          <p:nvPr userDrawn="1"/>
        </p:nvSpPr>
        <p:spPr bwMode="auto">
          <a:xfrm>
            <a:off x="33078738" y="5638800"/>
            <a:ext cx="9982200" cy="26563638"/>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0" fontAlgn="base" hangingPunct="0">
        <a:spcBef>
          <a:spcPct val="0"/>
        </a:spcBef>
        <a:spcAft>
          <a:spcPct val="0"/>
        </a:spcAft>
        <a:defRPr sz="8600">
          <a:solidFill>
            <a:schemeClr val="tx2"/>
          </a:solidFill>
          <a:latin typeface="+mj-lt"/>
          <a:ea typeface="+mj-ea"/>
          <a:cs typeface="+mj-cs"/>
        </a:defRPr>
      </a:lvl1pPr>
      <a:lvl2pPr algn="ctr" rtl="0" eaLnBrk="0" fontAlgn="base" hangingPunct="0">
        <a:spcBef>
          <a:spcPct val="0"/>
        </a:spcBef>
        <a:spcAft>
          <a:spcPct val="0"/>
        </a:spcAft>
        <a:defRPr sz="8600">
          <a:solidFill>
            <a:schemeClr val="tx2"/>
          </a:solidFill>
          <a:latin typeface="Arial Black" pitchFamily="34" charset="0"/>
        </a:defRPr>
      </a:lvl2pPr>
      <a:lvl3pPr algn="ctr" rtl="0" eaLnBrk="0" fontAlgn="base" hangingPunct="0">
        <a:spcBef>
          <a:spcPct val="0"/>
        </a:spcBef>
        <a:spcAft>
          <a:spcPct val="0"/>
        </a:spcAft>
        <a:defRPr sz="8600">
          <a:solidFill>
            <a:schemeClr val="tx2"/>
          </a:solidFill>
          <a:latin typeface="Arial Black" pitchFamily="34" charset="0"/>
        </a:defRPr>
      </a:lvl3pPr>
      <a:lvl4pPr algn="ctr" rtl="0" eaLnBrk="0" fontAlgn="base" hangingPunct="0">
        <a:spcBef>
          <a:spcPct val="0"/>
        </a:spcBef>
        <a:spcAft>
          <a:spcPct val="0"/>
        </a:spcAft>
        <a:defRPr sz="8600">
          <a:solidFill>
            <a:schemeClr val="tx2"/>
          </a:solidFill>
          <a:latin typeface="Arial Black" pitchFamily="34" charset="0"/>
        </a:defRPr>
      </a:lvl4pPr>
      <a:lvl5pPr algn="ctr" rtl="0" eaLnBrk="0" fontAlgn="base" hangingPunct="0">
        <a:spcBef>
          <a:spcPct val="0"/>
        </a:spcBef>
        <a:spcAft>
          <a:spcPct val="0"/>
        </a:spcAft>
        <a:defRPr sz="8600">
          <a:solidFill>
            <a:schemeClr val="tx2"/>
          </a:solidFill>
          <a:latin typeface="Arial Black" pitchFamily="34" charset="0"/>
        </a:defRPr>
      </a:lvl5pPr>
      <a:lvl6pPr marL="457200" algn="ctr" rtl="0" fontAlgn="base">
        <a:spcBef>
          <a:spcPct val="0"/>
        </a:spcBef>
        <a:spcAft>
          <a:spcPct val="0"/>
        </a:spcAft>
        <a:defRPr sz="8600">
          <a:solidFill>
            <a:schemeClr val="tx2"/>
          </a:solidFill>
          <a:latin typeface="Arial Black" pitchFamily="34" charset="0"/>
        </a:defRPr>
      </a:lvl6pPr>
      <a:lvl7pPr marL="914400" algn="ctr" rtl="0" fontAlgn="base">
        <a:spcBef>
          <a:spcPct val="0"/>
        </a:spcBef>
        <a:spcAft>
          <a:spcPct val="0"/>
        </a:spcAft>
        <a:defRPr sz="8600">
          <a:solidFill>
            <a:schemeClr val="tx2"/>
          </a:solidFill>
          <a:latin typeface="Arial Black" pitchFamily="34" charset="0"/>
        </a:defRPr>
      </a:lvl7pPr>
      <a:lvl8pPr marL="1371600" algn="ctr" rtl="0" fontAlgn="base">
        <a:spcBef>
          <a:spcPct val="0"/>
        </a:spcBef>
        <a:spcAft>
          <a:spcPct val="0"/>
        </a:spcAft>
        <a:defRPr sz="8600">
          <a:solidFill>
            <a:schemeClr val="tx2"/>
          </a:solidFill>
          <a:latin typeface="Arial Black" pitchFamily="34" charset="0"/>
        </a:defRPr>
      </a:lvl8pPr>
      <a:lvl9pPr marL="1828800" algn="ctr"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ChangeArrowheads="1"/>
          </p:cNvSpPr>
          <p:nvPr userDrawn="1"/>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1251" name="Rectangle 3"/>
          <p:cNvSpPr>
            <a:spLocks noChangeArrowheads="1"/>
          </p:cNvSpPr>
          <p:nvPr userDrawn="1"/>
        </p:nvSpPr>
        <p:spPr bwMode="auto">
          <a:xfrm>
            <a:off x="693738" y="5638800"/>
            <a:ext cx="42367200" cy="26563638"/>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1252" name="Rectangle 4"/>
          <p:cNvSpPr>
            <a:spLocks noChangeArrowheads="1"/>
          </p:cNvSpPr>
          <p:nvPr userDrawn="1"/>
        </p:nvSpPr>
        <p:spPr bwMode="auto">
          <a:xfrm>
            <a:off x="0" y="4800600"/>
            <a:ext cx="43891200" cy="130175"/>
          </a:xfrm>
          <a:prstGeom prst="rect">
            <a:avLst/>
          </a:prstGeom>
          <a:solidFill>
            <a:srgbClr val="660000"/>
          </a:solidFill>
          <a:ln w="9525">
            <a:noFill/>
            <a:miter lim="800000"/>
            <a:headEnd/>
            <a:tailEnd/>
          </a:ln>
          <a:effectLst/>
        </p:spPr>
        <p:txBody>
          <a:bodyPr wrap="none" anchor="ctr"/>
          <a:lstStyle/>
          <a:p>
            <a:endParaRPr lang="en-US"/>
          </a:p>
        </p:txBody>
      </p:sp>
      <p:sp>
        <p:nvSpPr>
          <p:cNvPr id="4101" name="Rectangle 6"/>
          <p:cNvSpPr>
            <a:spLocks noGrp="1" noChangeArrowheads="1"/>
          </p:cNvSpPr>
          <p:nvPr>
            <p:ph type="title"/>
          </p:nvPr>
        </p:nvSpPr>
        <p:spPr bwMode="auto">
          <a:xfrm>
            <a:off x="960438" y="1273175"/>
            <a:ext cx="41924287" cy="2201863"/>
          </a:xfrm>
          <a:prstGeom prst="rect">
            <a:avLst/>
          </a:prstGeom>
          <a:noFill/>
          <a:ln w="9525">
            <a:noFill/>
            <a:miter lim="800000"/>
            <a:headEnd/>
            <a:tailEnd/>
          </a:ln>
        </p:spPr>
        <p:txBody>
          <a:bodyPr vert="horz" wrap="square" lIns="91267" tIns="45624" rIns="91267" bIns="45624" numCol="1" anchor="ctr" anchorCtr="0" compatLnSpc="1">
            <a:prstTxWarp prst="textNoShape">
              <a:avLst/>
            </a:prstTxWarp>
          </a:bodyPr>
          <a:lstStyle/>
          <a:p>
            <a:pPr lvl="0"/>
            <a:r>
              <a:rPr lang="en-US"/>
              <a:t>Click to edit Master title style</a:t>
            </a:r>
          </a:p>
        </p:txBody>
      </p:sp>
      <p:sp>
        <p:nvSpPr>
          <p:cNvPr id="4102" name="Rectangle 7"/>
          <p:cNvSpPr>
            <a:spLocks noGrp="1" noChangeArrowheads="1"/>
          </p:cNvSpPr>
          <p:nvPr>
            <p:ph type="body" idx="1"/>
          </p:nvPr>
        </p:nvSpPr>
        <p:spPr bwMode="auto">
          <a:xfrm>
            <a:off x="693738" y="5638800"/>
            <a:ext cx="42190987" cy="26563638"/>
          </a:xfrm>
          <a:prstGeom prst="rect">
            <a:avLst/>
          </a:prstGeom>
          <a:noFill/>
          <a:ln w="9525">
            <a:noFill/>
            <a:miter lim="800000"/>
            <a:headEnd/>
            <a:tailEnd/>
          </a:ln>
        </p:spPr>
        <p:txBody>
          <a:bodyPr vert="horz" wrap="square" lIns="456408" tIns="456408" rIns="456408" bIns="456408" numCol="1" anchor="t" anchorCtr="0" compatLnSpc="1">
            <a:prstTxWarp prst="textNoShape">
              <a:avLst/>
            </a:prstTxWarp>
          </a:bodyPr>
          <a:lstStyle/>
          <a:p>
            <a:pPr lvl="0"/>
            <a:r>
              <a:rPr lang="en-US"/>
              <a:t>Click to edit Master text styles</a:t>
            </a:r>
          </a:p>
          <a:p>
            <a:pPr lvl="1"/>
            <a:r>
              <a:rPr lang="en-US"/>
              <a:t>Second level</a:t>
            </a:r>
          </a:p>
        </p:txBody>
      </p:sp>
      <p:sp>
        <p:nvSpPr>
          <p:cNvPr id="181256" name="Rectangle 8"/>
          <p:cNvSpPr>
            <a:spLocks noChangeArrowheads="1"/>
          </p:cNvSpPr>
          <p:nvPr userDrawn="1"/>
        </p:nvSpPr>
        <p:spPr bwMode="auto">
          <a:xfrm>
            <a:off x="0" y="0"/>
            <a:ext cx="43891200" cy="32918400"/>
          </a:xfrm>
          <a:prstGeom prst="rect">
            <a:avLst/>
          </a:prstGeom>
          <a:noFill/>
          <a:ln w="3175">
            <a:solidFill>
              <a:schemeClr val="tx2"/>
            </a:solidFill>
            <a:miter lim="800000"/>
            <a:headEnd/>
            <a:tailEnd/>
          </a:ln>
          <a:effec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rtl="0" eaLnBrk="0" fontAlgn="base" hangingPunct="0">
        <a:spcBef>
          <a:spcPct val="0"/>
        </a:spcBef>
        <a:spcAft>
          <a:spcPct val="0"/>
        </a:spcAft>
        <a:defRPr sz="8600">
          <a:solidFill>
            <a:schemeClr val="tx2"/>
          </a:solidFill>
          <a:latin typeface="+mj-lt"/>
          <a:ea typeface="+mj-ea"/>
          <a:cs typeface="+mj-cs"/>
        </a:defRPr>
      </a:lvl1pPr>
      <a:lvl2pPr algn="ctr" rtl="0" eaLnBrk="0" fontAlgn="base" hangingPunct="0">
        <a:spcBef>
          <a:spcPct val="0"/>
        </a:spcBef>
        <a:spcAft>
          <a:spcPct val="0"/>
        </a:spcAft>
        <a:defRPr sz="8600">
          <a:solidFill>
            <a:schemeClr val="tx2"/>
          </a:solidFill>
          <a:latin typeface="Arial Black" pitchFamily="34" charset="0"/>
        </a:defRPr>
      </a:lvl2pPr>
      <a:lvl3pPr algn="ctr" rtl="0" eaLnBrk="0" fontAlgn="base" hangingPunct="0">
        <a:spcBef>
          <a:spcPct val="0"/>
        </a:spcBef>
        <a:spcAft>
          <a:spcPct val="0"/>
        </a:spcAft>
        <a:defRPr sz="8600">
          <a:solidFill>
            <a:schemeClr val="tx2"/>
          </a:solidFill>
          <a:latin typeface="Arial Black" pitchFamily="34" charset="0"/>
        </a:defRPr>
      </a:lvl3pPr>
      <a:lvl4pPr algn="ctr" rtl="0" eaLnBrk="0" fontAlgn="base" hangingPunct="0">
        <a:spcBef>
          <a:spcPct val="0"/>
        </a:spcBef>
        <a:spcAft>
          <a:spcPct val="0"/>
        </a:spcAft>
        <a:defRPr sz="8600">
          <a:solidFill>
            <a:schemeClr val="tx2"/>
          </a:solidFill>
          <a:latin typeface="Arial Black" pitchFamily="34" charset="0"/>
        </a:defRPr>
      </a:lvl4pPr>
      <a:lvl5pPr algn="ctr" rtl="0" eaLnBrk="0" fontAlgn="base" hangingPunct="0">
        <a:spcBef>
          <a:spcPct val="0"/>
        </a:spcBef>
        <a:spcAft>
          <a:spcPct val="0"/>
        </a:spcAft>
        <a:defRPr sz="8600">
          <a:solidFill>
            <a:schemeClr val="tx2"/>
          </a:solidFill>
          <a:latin typeface="Arial Black" pitchFamily="34" charset="0"/>
        </a:defRPr>
      </a:lvl5pPr>
      <a:lvl6pPr marL="457200" algn="ctr" rtl="0" fontAlgn="base">
        <a:spcBef>
          <a:spcPct val="0"/>
        </a:spcBef>
        <a:spcAft>
          <a:spcPct val="0"/>
        </a:spcAft>
        <a:defRPr sz="8600">
          <a:solidFill>
            <a:schemeClr val="tx2"/>
          </a:solidFill>
          <a:latin typeface="Arial Black" pitchFamily="34" charset="0"/>
        </a:defRPr>
      </a:lvl6pPr>
      <a:lvl7pPr marL="914400" algn="ctr" rtl="0" fontAlgn="base">
        <a:spcBef>
          <a:spcPct val="0"/>
        </a:spcBef>
        <a:spcAft>
          <a:spcPct val="0"/>
        </a:spcAft>
        <a:defRPr sz="8600">
          <a:solidFill>
            <a:schemeClr val="tx2"/>
          </a:solidFill>
          <a:latin typeface="Arial Black" pitchFamily="34" charset="0"/>
        </a:defRPr>
      </a:lvl7pPr>
      <a:lvl8pPr marL="1371600" algn="ctr" rtl="0" fontAlgn="base">
        <a:spcBef>
          <a:spcPct val="0"/>
        </a:spcBef>
        <a:spcAft>
          <a:spcPct val="0"/>
        </a:spcAft>
        <a:defRPr sz="8600">
          <a:solidFill>
            <a:schemeClr val="tx2"/>
          </a:solidFill>
          <a:latin typeface="Arial Black" pitchFamily="34" charset="0"/>
        </a:defRPr>
      </a:lvl8pPr>
      <a:lvl9pPr marL="1828800" algn="ctr"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mailto:ugyenthukzom@gmail.com" TargetMode="External"/><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mvasai@myseneca.ca" TargetMode="External"/><Relationship Id="rId11" Type="http://schemas.openxmlformats.org/officeDocument/2006/relationships/image" Target="../media/image5.png"/><Relationship Id="rId5" Type="http://schemas.openxmlformats.org/officeDocument/2006/relationships/hyperlink" Target="mailto:osampson1@myseneca.ca" TargetMode="External"/><Relationship Id="rId10" Type="http://schemas.openxmlformats.org/officeDocument/2006/relationships/image" Target="../media/image4.png"/><Relationship Id="rId4" Type="http://schemas.openxmlformats.org/officeDocument/2006/relationships/hyperlink" Target="mailto:ssaleh25@myseneca.ca" TargetMode="Externa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5"/>
          <p:cNvSpPr>
            <a:spLocks noChangeArrowheads="1"/>
          </p:cNvSpPr>
          <p:nvPr/>
        </p:nvSpPr>
        <p:spPr bwMode="auto">
          <a:xfrm>
            <a:off x="3658605" y="356186"/>
            <a:ext cx="35277425" cy="4231714"/>
          </a:xfrm>
          <a:prstGeom prst="rect">
            <a:avLst/>
          </a:prstGeom>
          <a:noFill/>
          <a:ln w="9525">
            <a:noFill/>
            <a:miter lim="800000"/>
            <a:headEnd/>
            <a:tailEnd/>
          </a:ln>
        </p:spPr>
        <p:txBody>
          <a:bodyPr wrap="square" lIns="91243" tIns="45614" rIns="91243" bIns="45614">
            <a:spAutoFit/>
          </a:bodyPr>
          <a:lstStyle/>
          <a:p>
            <a:pPr algn="ctr">
              <a:spcBef>
                <a:spcPct val="50000"/>
              </a:spcBef>
            </a:pPr>
            <a:r>
              <a:rPr lang="en-US" sz="8800" dirty="0">
                <a:latin typeface="Times New Roman"/>
                <a:cs typeface="Times New Roman"/>
              </a:rPr>
              <a:t>A SIIM-ISIC Melanoma Machine Learning Classification Project</a:t>
            </a:r>
          </a:p>
          <a:p>
            <a:pPr algn="ctr">
              <a:spcBef>
                <a:spcPct val="50000"/>
              </a:spcBef>
            </a:pPr>
            <a:r>
              <a:rPr lang="en-US" sz="5400" b="1" dirty="0">
                <a:latin typeface="Times New Roman"/>
                <a:cs typeface="Times New Roman"/>
              </a:rPr>
              <a:t>Maria Vasai, Selam Saleh, Olivia Sampson, Ugyen Thukzom</a:t>
            </a:r>
          </a:p>
          <a:p>
            <a:pPr algn="ctr">
              <a:spcBef>
                <a:spcPct val="50000"/>
              </a:spcBef>
            </a:pPr>
            <a:r>
              <a:rPr lang="en-US" sz="4000" b="1" dirty="0">
                <a:latin typeface="Times New Roman" pitchFamily="18" charset="0"/>
                <a:cs typeface="Times New Roman" pitchFamily="18" charset="0"/>
                <a:hlinkClick r:id="rId3"/>
              </a:rPr>
              <a:t>ugyenthukzom@gmail.com</a:t>
            </a:r>
            <a:r>
              <a:rPr lang="en-US" sz="4000" b="1" dirty="0">
                <a:latin typeface="Times New Roman" pitchFamily="18" charset="0"/>
                <a:cs typeface="Times New Roman" pitchFamily="18" charset="0"/>
              </a:rPr>
              <a:t>, </a:t>
            </a:r>
            <a:r>
              <a:rPr lang="en-US" sz="4000" b="1" dirty="0">
                <a:latin typeface="Times New Roman" pitchFamily="18" charset="0"/>
                <a:cs typeface="Times New Roman" pitchFamily="18" charset="0"/>
                <a:hlinkClick r:id="rId4"/>
              </a:rPr>
              <a:t>ssaleh25@myseneca.ca</a:t>
            </a:r>
            <a:r>
              <a:rPr lang="en-US" sz="4000" b="1" dirty="0">
                <a:latin typeface="Times New Roman" pitchFamily="18" charset="0"/>
                <a:cs typeface="Times New Roman" pitchFamily="18" charset="0"/>
              </a:rPr>
              <a:t>, </a:t>
            </a:r>
            <a:r>
              <a:rPr lang="en-US" sz="4000" b="1" dirty="0">
                <a:latin typeface="Times New Roman" pitchFamily="18" charset="0"/>
                <a:cs typeface="Times New Roman" pitchFamily="18" charset="0"/>
                <a:hlinkClick r:id="rId5"/>
              </a:rPr>
              <a:t>osampson1@myseneca.ca</a:t>
            </a:r>
            <a:r>
              <a:rPr lang="en-US" sz="4000" b="1" dirty="0">
                <a:latin typeface="Times New Roman" pitchFamily="18" charset="0"/>
                <a:cs typeface="Times New Roman" pitchFamily="18" charset="0"/>
              </a:rPr>
              <a:t>, </a:t>
            </a:r>
            <a:r>
              <a:rPr lang="en-US" sz="4000" b="1" dirty="0">
                <a:latin typeface="Times New Roman" pitchFamily="18" charset="0"/>
                <a:cs typeface="Times New Roman" pitchFamily="18" charset="0"/>
                <a:hlinkClick r:id="rId6"/>
              </a:rPr>
              <a:t>mvasai@myseneca.ca</a:t>
            </a:r>
            <a:r>
              <a:rPr lang="en-US" sz="4000" b="1">
                <a:latin typeface="Times New Roman" pitchFamily="18" charset="0"/>
                <a:cs typeface="Times New Roman" pitchFamily="18" charset="0"/>
              </a:rPr>
              <a:t> </a:t>
            </a:r>
            <a:endParaRPr lang="en-US" sz="5400" b="1" dirty="0">
              <a:latin typeface="Times New Roman" pitchFamily="18" charset="0"/>
              <a:cs typeface="Times New Roman" pitchFamily="18" charset="0"/>
            </a:endParaRPr>
          </a:p>
          <a:p>
            <a:pPr algn="ctr" eaLnBrk="0" hangingPunct="0"/>
            <a:r>
              <a:rPr lang="en-US" sz="4000" b="1" dirty="0">
                <a:latin typeface="Times New Roman" pitchFamily="18" charset="0"/>
                <a:cs typeface="Times New Roman" pitchFamily="18" charset="0"/>
              </a:rPr>
              <a:t>Seneca Polytechnic</a:t>
            </a:r>
          </a:p>
        </p:txBody>
      </p:sp>
      <p:sp>
        <p:nvSpPr>
          <p:cNvPr id="1032" name="Text Box 7"/>
          <p:cNvSpPr txBox="1">
            <a:spLocks noChangeArrowheads="1"/>
          </p:cNvSpPr>
          <p:nvPr/>
        </p:nvSpPr>
        <p:spPr bwMode="auto">
          <a:xfrm>
            <a:off x="685800" y="5638800"/>
            <a:ext cx="9982200" cy="1015469"/>
          </a:xfrm>
          <a:prstGeom prst="rect">
            <a:avLst/>
          </a:prstGeom>
          <a:solidFill>
            <a:schemeClr val="accent2"/>
          </a:solidFill>
          <a:ln w="9525">
            <a:noFill/>
            <a:miter lim="800000"/>
            <a:headEnd/>
            <a:tailEnd/>
          </a:ln>
        </p:spPr>
        <p:txBody>
          <a:bodyPr lIns="91267" tIns="45624" rIns="91267" bIns="45624">
            <a:spAutoFit/>
          </a:bodyPr>
          <a:lstStyle/>
          <a:p>
            <a:pPr algn="ctr" eaLnBrk="0" hangingPunct="0">
              <a:spcBef>
                <a:spcPct val="50000"/>
              </a:spcBef>
            </a:pPr>
            <a:r>
              <a:rPr lang="en-US" sz="6000" b="1" dirty="0">
                <a:solidFill>
                  <a:srgbClr val="F8F8F8"/>
                </a:solidFill>
                <a:latin typeface="Times New Roman" pitchFamily="18" charset="0"/>
                <a:cs typeface="Times New Roman" pitchFamily="18" charset="0"/>
              </a:rPr>
              <a:t>Abstract</a:t>
            </a:r>
          </a:p>
        </p:txBody>
      </p:sp>
      <p:sp>
        <p:nvSpPr>
          <p:cNvPr id="1035" name="Text Box 405"/>
          <p:cNvSpPr txBox="1">
            <a:spLocks noChangeArrowheads="1"/>
          </p:cNvSpPr>
          <p:nvPr/>
        </p:nvSpPr>
        <p:spPr bwMode="auto">
          <a:xfrm>
            <a:off x="11490325" y="5626100"/>
            <a:ext cx="9982200" cy="1015469"/>
          </a:xfrm>
          <a:prstGeom prst="rect">
            <a:avLst/>
          </a:prstGeom>
          <a:solidFill>
            <a:schemeClr val="accent2"/>
          </a:solidFill>
          <a:ln w="9525">
            <a:noFill/>
            <a:miter lim="800000"/>
            <a:headEnd/>
            <a:tailEnd/>
          </a:ln>
        </p:spPr>
        <p:txBody>
          <a:bodyPr lIns="91267" tIns="45624" rIns="91267" bIns="45624">
            <a:spAutoFit/>
          </a:bodyPr>
          <a:lstStyle/>
          <a:p>
            <a:pPr algn="ctr" eaLnBrk="0" hangingPunct="0">
              <a:spcBef>
                <a:spcPct val="50000"/>
              </a:spcBef>
            </a:pPr>
            <a:r>
              <a:rPr lang="en-US" sz="6000" b="1" dirty="0">
                <a:solidFill>
                  <a:srgbClr val="F8F8F8"/>
                </a:solidFill>
                <a:latin typeface="Times New Roman" pitchFamily="18" charset="0"/>
                <a:cs typeface="Times New Roman" pitchFamily="18" charset="0"/>
              </a:rPr>
              <a:t>Challenges</a:t>
            </a:r>
          </a:p>
        </p:txBody>
      </p:sp>
      <p:sp>
        <p:nvSpPr>
          <p:cNvPr id="1047" name="Text Box 478"/>
          <p:cNvSpPr txBox="1">
            <a:spLocks noChangeArrowheads="1"/>
          </p:cNvSpPr>
          <p:nvPr/>
        </p:nvSpPr>
        <p:spPr bwMode="auto">
          <a:xfrm>
            <a:off x="33078738" y="5638800"/>
            <a:ext cx="9982200" cy="923136"/>
          </a:xfrm>
          <a:prstGeom prst="rect">
            <a:avLst/>
          </a:prstGeom>
          <a:solidFill>
            <a:schemeClr val="accent2"/>
          </a:solidFill>
          <a:ln w="9525">
            <a:noFill/>
            <a:miter lim="800000"/>
            <a:headEnd/>
            <a:tailEnd/>
          </a:ln>
        </p:spPr>
        <p:txBody>
          <a:bodyPr lIns="91267" tIns="45624" rIns="91267" bIns="45624">
            <a:spAutoFit/>
          </a:bodyPr>
          <a:lstStyle/>
          <a:p>
            <a:pPr algn="ctr" eaLnBrk="0" hangingPunct="0">
              <a:spcBef>
                <a:spcPct val="50000"/>
              </a:spcBef>
            </a:pPr>
            <a:r>
              <a:rPr lang="en-CA" sz="5400" b="1" dirty="0">
                <a:solidFill>
                  <a:srgbClr val="F8F8F8"/>
                </a:solidFill>
                <a:latin typeface="Times New Roman" pitchFamily="18" charset="0"/>
                <a:cs typeface="Times New Roman" pitchFamily="18" charset="0"/>
              </a:rPr>
              <a:t>Evaluations</a:t>
            </a:r>
            <a:endParaRPr lang="en-US" sz="5400" b="1" dirty="0">
              <a:solidFill>
                <a:srgbClr val="F8F8F8"/>
              </a:solidFill>
              <a:latin typeface="Times New Roman" pitchFamily="18" charset="0"/>
              <a:cs typeface="Times New Roman" pitchFamily="18" charset="0"/>
            </a:endParaRPr>
          </a:p>
        </p:txBody>
      </p:sp>
      <p:sp>
        <p:nvSpPr>
          <p:cNvPr id="1050" name="Text Box 481"/>
          <p:cNvSpPr txBox="1">
            <a:spLocks noChangeArrowheads="1"/>
          </p:cNvSpPr>
          <p:nvPr/>
        </p:nvSpPr>
        <p:spPr bwMode="auto">
          <a:xfrm>
            <a:off x="33078738" y="6218238"/>
            <a:ext cx="9982200" cy="1815882"/>
          </a:xfrm>
          <a:prstGeom prst="rect">
            <a:avLst/>
          </a:prstGeom>
          <a:noFill/>
          <a:ln w="9525">
            <a:noFill/>
            <a:miter lim="800000"/>
            <a:headEnd/>
            <a:tailEnd/>
          </a:ln>
        </p:spPr>
        <p:txBody>
          <a:bodyPr lIns="457200" tIns="457200" rIns="457200" bIns="457200">
            <a:spAutoFit/>
          </a:bodyPr>
          <a:lstStyle/>
          <a:p>
            <a:pPr defTabSz="4389438"/>
            <a:endParaRPr lang="en-US" dirty="0"/>
          </a:p>
          <a:p>
            <a:pPr defTabSz="4389438"/>
            <a:endParaRPr lang="en-US" dirty="0"/>
          </a:p>
        </p:txBody>
      </p:sp>
      <p:sp>
        <p:nvSpPr>
          <p:cNvPr id="86" name="Text Box 7"/>
          <p:cNvSpPr txBox="1">
            <a:spLocks noChangeArrowheads="1"/>
          </p:cNvSpPr>
          <p:nvPr/>
        </p:nvSpPr>
        <p:spPr bwMode="auto">
          <a:xfrm>
            <a:off x="685800" y="20185392"/>
            <a:ext cx="9982200" cy="1015469"/>
          </a:xfrm>
          <a:prstGeom prst="rect">
            <a:avLst/>
          </a:prstGeom>
          <a:solidFill>
            <a:schemeClr val="accent2"/>
          </a:solidFill>
          <a:ln w="9525">
            <a:noFill/>
            <a:miter lim="800000"/>
            <a:headEnd/>
            <a:tailEnd/>
          </a:ln>
        </p:spPr>
        <p:txBody>
          <a:bodyPr lIns="91267" tIns="45624" rIns="91267" bIns="45624">
            <a:spAutoFit/>
          </a:bodyPr>
          <a:lstStyle/>
          <a:p>
            <a:pPr algn="ctr" eaLnBrk="0" hangingPunct="0">
              <a:spcBef>
                <a:spcPct val="50000"/>
              </a:spcBef>
            </a:pPr>
            <a:r>
              <a:rPr lang="en-US" sz="6000" b="1" dirty="0">
                <a:solidFill>
                  <a:srgbClr val="F8F8F8"/>
                </a:solidFill>
                <a:latin typeface="Times New Roman" pitchFamily="18" charset="0"/>
                <a:cs typeface="Times New Roman" pitchFamily="18" charset="0"/>
              </a:rPr>
              <a:t>Objective</a:t>
            </a:r>
          </a:p>
        </p:txBody>
      </p:sp>
      <p:sp>
        <p:nvSpPr>
          <p:cNvPr id="94" name="Text Box 405"/>
          <p:cNvSpPr txBox="1">
            <a:spLocks noChangeArrowheads="1"/>
          </p:cNvSpPr>
          <p:nvPr/>
        </p:nvSpPr>
        <p:spPr bwMode="auto">
          <a:xfrm>
            <a:off x="11470708" y="16459199"/>
            <a:ext cx="9982200" cy="923136"/>
          </a:xfrm>
          <a:prstGeom prst="rect">
            <a:avLst/>
          </a:prstGeom>
          <a:solidFill>
            <a:schemeClr val="accent2"/>
          </a:solidFill>
          <a:ln w="9525">
            <a:noFill/>
            <a:miter lim="800000"/>
            <a:headEnd/>
            <a:tailEnd/>
          </a:ln>
        </p:spPr>
        <p:txBody>
          <a:bodyPr lIns="91267" tIns="45624" rIns="91267" bIns="45624">
            <a:spAutoFit/>
          </a:bodyPr>
          <a:lstStyle/>
          <a:p>
            <a:pPr algn="ctr" eaLnBrk="0" hangingPunct="0">
              <a:spcBef>
                <a:spcPct val="50000"/>
              </a:spcBef>
            </a:pPr>
            <a:r>
              <a:rPr lang="en-CA" sz="5400" b="1" dirty="0">
                <a:solidFill>
                  <a:srgbClr val="F8F8F8"/>
                </a:solidFill>
                <a:latin typeface="Times New Roman" pitchFamily="18" charset="0"/>
                <a:cs typeface="Times New Roman" pitchFamily="18" charset="0"/>
              </a:rPr>
              <a:t>Framework </a:t>
            </a:r>
            <a:endParaRPr lang="en-US" sz="5400" b="1" dirty="0">
              <a:solidFill>
                <a:srgbClr val="F8F8F8"/>
              </a:solidFill>
              <a:latin typeface="Times New Roman" pitchFamily="18" charset="0"/>
              <a:cs typeface="Times New Roman" pitchFamily="18" charset="0"/>
            </a:endParaRPr>
          </a:p>
        </p:txBody>
      </p:sp>
      <p:sp>
        <p:nvSpPr>
          <p:cNvPr id="280" name="Text Box 479"/>
          <p:cNvSpPr txBox="1">
            <a:spLocks noChangeArrowheads="1"/>
          </p:cNvSpPr>
          <p:nvPr/>
        </p:nvSpPr>
        <p:spPr bwMode="auto">
          <a:xfrm>
            <a:off x="33028803" y="18078808"/>
            <a:ext cx="9982200" cy="1015469"/>
          </a:xfrm>
          <a:prstGeom prst="rect">
            <a:avLst/>
          </a:prstGeom>
          <a:solidFill>
            <a:schemeClr val="accent2"/>
          </a:solidFill>
          <a:ln w="9525">
            <a:noFill/>
            <a:miter lim="800000"/>
            <a:headEnd/>
            <a:tailEnd/>
          </a:ln>
        </p:spPr>
        <p:txBody>
          <a:bodyPr lIns="91267" tIns="45624" rIns="91267" bIns="45624">
            <a:spAutoFit/>
          </a:bodyPr>
          <a:lstStyle/>
          <a:p>
            <a:pPr algn="ctr" eaLnBrk="0" hangingPunct="0">
              <a:spcBef>
                <a:spcPct val="50000"/>
              </a:spcBef>
            </a:pPr>
            <a:r>
              <a:rPr lang="en-US" sz="6000" b="1" dirty="0">
                <a:solidFill>
                  <a:srgbClr val="F8F8F8"/>
                </a:solidFill>
                <a:latin typeface="Times New Roman" pitchFamily="18" charset="0"/>
                <a:cs typeface="Times New Roman" pitchFamily="18" charset="0"/>
              </a:rPr>
              <a:t>Conclusions </a:t>
            </a:r>
          </a:p>
        </p:txBody>
      </p:sp>
      <p:sp>
        <p:nvSpPr>
          <p:cNvPr id="299" name="Rectangle 298"/>
          <p:cNvSpPr/>
          <p:nvPr/>
        </p:nvSpPr>
        <p:spPr>
          <a:xfrm>
            <a:off x="33093761" y="6595717"/>
            <a:ext cx="9948178" cy="646331"/>
          </a:xfrm>
          <a:prstGeom prst="rect">
            <a:avLst/>
          </a:prstGeom>
        </p:spPr>
        <p:txBody>
          <a:bodyPr wrap="square">
            <a:spAutoFit/>
          </a:bodyPr>
          <a:lstStyle/>
          <a:p>
            <a:r>
              <a:rPr lang="en-US" sz="3600" dirty="0">
                <a:latin typeface="Times New Roman"/>
                <a:cs typeface="Times New Roman"/>
              </a:rPr>
              <a:t>\</a:t>
            </a:r>
            <a:endParaRPr lang="en-US" sz="3200" dirty="0">
              <a:solidFill>
                <a:srgbClr val="000000"/>
              </a:solidFill>
              <a:latin typeface="Times New Roman"/>
              <a:cs typeface="Times New Roman"/>
            </a:endParaRPr>
          </a:p>
        </p:txBody>
      </p:sp>
      <p:sp>
        <p:nvSpPr>
          <p:cNvPr id="47" name="Text Box 424"/>
          <p:cNvSpPr txBox="1">
            <a:spLocks noChangeArrowheads="1"/>
          </p:cNvSpPr>
          <p:nvPr/>
        </p:nvSpPr>
        <p:spPr bwMode="auto">
          <a:xfrm>
            <a:off x="22282150" y="5664200"/>
            <a:ext cx="9982200" cy="830803"/>
          </a:xfrm>
          <a:prstGeom prst="rect">
            <a:avLst/>
          </a:prstGeom>
          <a:solidFill>
            <a:schemeClr val="accent2"/>
          </a:solidFill>
          <a:ln w="9525">
            <a:noFill/>
            <a:miter lim="800000"/>
            <a:headEnd/>
            <a:tailEnd/>
          </a:ln>
        </p:spPr>
        <p:txBody>
          <a:bodyPr lIns="91267" tIns="45624" rIns="91267" bIns="45624">
            <a:spAutoFit/>
          </a:bodyPr>
          <a:lstStyle/>
          <a:p>
            <a:pPr algn="ctr" eaLnBrk="0" hangingPunct="0">
              <a:spcBef>
                <a:spcPct val="50000"/>
              </a:spcBef>
            </a:pPr>
            <a:r>
              <a:rPr lang="en-US" sz="4800" b="1" dirty="0">
                <a:solidFill>
                  <a:srgbClr val="F8F8F8"/>
                </a:solidFill>
                <a:latin typeface="Times New Roman" pitchFamily="18" charset="0"/>
                <a:cs typeface="Times New Roman" pitchFamily="18" charset="0"/>
              </a:rPr>
              <a:t>Examples</a:t>
            </a:r>
            <a:endParaRPr lang="en-US" sz="4400" b="1" dirty="0">
              <a:solidFill>
                <a:srgbClr val="F8F8F8"/>
              </a:solidFill>
              <a:latin typeface="Times New Roman" pitchFamily="18" charset="0"/>
              <a:cs typeface="Times New Roman" pitchFamily="18" charset="0"/>
            </a:endParaRPr>
          </a:p>
        </p:txBody>
      </p:sp>
      <p:sp>
        <p:nvSpPr>
          <p:cNvPr id="36" name="Text Box 479"/>
          <p:cNvSpPr txBox="1">
            <a:spLocks noChangeArrowheads="1"/>
          </p:cNvSpPr>
          <p:nvPr/>
        </p:nvSpPr>
        <p:spPr bwMode="auto">
          <a:xfrm>
            <a:off x="33093761" y="29138965"/>
            <a:ext cx="9982200" cy="1015469"/>
          </a:xfrm>
          <a:prstGeom prst="rect">
            <a:avLst/>
          </a:prstGeom>
          <a:solidFill>
            <a:schemeClr val="accent2"/>
          </a:solidFill>
          <a:ln w="9525">
            <a:noFill/>
            <a:miter lim="800000"/>
            <a:headEnd/>
            <a:tailEnd/>
          </a:ln>
        </p:spPr>
        <p:txBody>
          <a:bodyPr lIns="91267" tIns="45624" rIns="91267" bIns="45624">
            <a:spAutoFit/>
          </a:bodyPr>
          <a:lstStyle/>
          <a:p>
            <a:pPr algn="ctr" eaLnBrk="0" hangingPunct="0">
              <a:spcBef>
                <a:spcPct val="50000"/>
              </a:spcBef>
            </a:pPr>
            <a:r>
              <a:rPr lang="en-US" sz="6000" b="1" dirty="0">
                <a:solidFill>
                  <a:srgbClr val="F8F8F8"/>
                </a:solidFill>
                <a:latin typeface="Times New Roman" pitchFamily="18" charset="0"/>
                <a:cs typeface="Times New Roman" pitchFamily="18" charset="0"/>
              </a:rPr>
              <a:t>References </a:t>
            </a:r>
          </a:p>
        </p:txBody>
      </p:sp>
      <p:sp>
        <p:nvSpPr>
          <p:cNvPr id="51" name="Down Arrow 50"/>
          <p:cNvSpPr/>
          <p:nvPr/>
        </p:nvSpPr>
        <p:spPr bwMode="auto">
          <a:xfrm>
            <a:off x="29220901" y="10087412"/>
            <a:ext cx="822960" cy="822960"/>
          </a:xfrm>
          <a:prstGeom prst="downArrow">
            <a:avLst/>
          </a:prstGeom>
          <a:noFill/>
          <a:ln w="9525" cap="flat" cmpd="sng" algn="ctr">
            <a:noFill/>
            <a:prstDash val="solid"/>
            <a:round/>
            <a:headEnd type="none" w="med" len="med"/>
            <a:tailEnd type="none" w="med" len="med"/>
          </a:ln>
          <a:effectLst/>
        </p:spPr>
        <p:txBody>
          <a:bodyPr/>
          <a:lstStyle/>
          <a:p>
            <a:endParaRPr lang="en-US"/>
          </a:p>
        </p:txBody>
      </p:sp>
      <p:pic>
        <p:nvPicPr>
          <p:cNvPr id="1026" name="Picture 2" descr="Seneca College • Download Seneca vector logo SVG • Logotyp.us">
            <a:extLst>
              <a:ext uri="{FF2B5EF4-FFF2-40B4-BE49-F238E27FC236}">
                <a16:creationId xmlns:a16="http://schemas.microsoft.com/office/drawing/2014/main" id="{1DC3929F-4EA6-4C48-98ED-E02F22040D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59042"/>
            <a:ext cx="3378200" cy="2413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37E5E93-3F8F-0193-B2B4-8B362E60BF87}"/>
              </a:ext>
            </a:extLst>
          </p:cNvPr>
          <p:cNvSpPr txBox="1"/>
          <p:nvPr/>
        </p:nvSpPr>
        <p:spPr>
          <a:xfrm>
            <a:off x="3486150" y="7943850"/>
            <a:ext cx="184731" cy="538609"/>
          </a:xfrm>
          <a:prstGeom prst="rect">
            <a:avLst/>
          </a:prstGeom>
          <a:noFill/>
        </p:spPr>
        <p:txBody>
          <a:bodyPr wrap="square" rtlCol="0">
            <a:spAutoFit/>
          </a:bodyPr>
          <a:lstStyle/>
          <a:p>
            <a:endParaRPr lang="en-BT" dirty="0"/>
          </a:p>
        </p:txBody>
      </p:sp>
      <p:sp>
        <p:nvSpPr>
          <p:cNvPr id="4" name="TextBox 3">
            <a:extLst>
              <a:ext uri="{FF2B5EF4-FFF2-40B4-BE49-F238E27FC236}">
                <a16:creationId xmlns:a16="http://schemas.microsoft.com/office/drawing/2014/main" id="{838A7514-58EB-9135-F386-0CB3E84A7363}"/>
              </a:ext>
            </a:extLst>
          </p:cNvPr>
          <p:cNvSpPr txBox="1"/>
          <p:nvPr/>
        </p:nvSpPr>
        <p:spPr>
          <a:xfrm>
            <a:off x="1009058" y="7218133"/>
            <a:ext cx="9136998" cy="12403395"/>
          </a:xfrm>
          <a:prstGeom prst="rect">
            <a:avLst/>
          </a:prstGeom>
          <a:noFill/>
        </p:spPr>
        <p:txBody>
          <a:bodyPr wrap="square" rtlCol="0">
            <a:spAutoFit/>
          </a:bodyPr>
          <a:lstStyle/>
          <a:p>
            <a:r>
              <a:rPr lang="en-US" sz="4000" dirty="0">
                <a:latin typeface="Times New Roman" panose="02020603050405020304" pitchFamily="18" charset="0"/>
                <a:ea typeface="Tahoma" panose="020B0604030504040204" pitchFamily="34" charset="0"/>
                <a:cs typeface="Times New Roman" panose="02020603050405020304" pitchFamily="18" charset="0"/>
              </a:rPr>
              <a:t>This project develops a machine learning pipeline for early melanoma detection using the ISIC </a:t>
            </a:r>
            <a:r>
              <a:rPr lang="en-US" sz="4000" dirty="0" err="1">
                <a:latin typeface="Times New Roman" panose="02020603050405020304" pitchFamily="18" charset="0"/>
                <a:ea typeface="Tahoma" panose="020B0604030504040204" pitchFamily="34" charset="0"/>
                <a:cs typeface="Times New Roman" panose="02020603050405020304" pitchFamily="18" charset="0"/>
              </a:rPr>
              <a:t>dermoscopic</a:t>
            </a:r>
            <a:r>
              <a:rPr lang="en-US" sz="4000" dirty="0">
                <a:latin typeface="Times New Roman" panose="02020603050405020304" pitchFamily="18" charset="0"/>
                <a:ea typeface="Tahoma" panose="020B0604030504040204" pitchFamily="34" charset="0"/>
                <a:cs typeface="Times New Roman" panose="02020603050405020304" pitchFamily="18" charset="0"/>
              </a:rPr>
              <a:t> dataset, addressing the challenge of extreme class imbalance where malignant cases represent less than 2% of the data. The approach combines pre-trained Convolutional Neural Networks (CNNs) for feature extraction with Random Over Sampling to balance the dataset and feature selection techniques to retain the most relevant predictors. Emphasizing clinical relevance, the model is optimized to maximize recall, prioritizing the detection of malignant lesions and reducing the risk of false negatives. The findings demonstrate that the integration of deep learning features with strategic threshold tuning provides a promising foundation for future diagnostic decision-support systems in oncology.</a:t>
            </a:r>
          </a:p>
        </p:txBody>
      </p:sp>
      <p:sp>
        <p:nvSpPr>
          <p:cNvPr id="24" name="TextBox 23">
            <a:extLst>
              <a:ext uri="{FF2B5EF4-FFF2-40B4-BE49-F238E27FC236}">
                <a16:creationId xmlns:a16="http://schemas.microsoft.com/office/drawing/2014/main" id="{CF2B876C-9C7C-2DB7-0069-A1C3A1CA99C2}"/>
              </a:ext>
            </a:extLst>
          </p:cNvPr>
          <p:cNvSpPr txBox="1"/>
          <p:nvPr/>
        </p:nvSpPr>
        <p:spPr>
          <a:xfrm>
            <a:off x="11885342" y="6994257"/>
            <a:ext cx="9567565" cy="9325630"/>
          </a:xfrm>
          <a:prstGeom prst="rect">
            <a:avLst/>
          </a:prstGeom>
          <a:noFill/>
        </p:spPr>
        <p:txBody>
          <a:bodyPr wrap="square">
            <a:spAutoFit/>
          </a:bodyPr>
          <a:lstStyle/>
          <a:p>
            <a:r>
              <a:rPr lang="en-US" sz="4000" b="1" dirty="0">
                <a:latin typeface="Times New Roman" panose="02020603050405020304" pitchFamily="18" charset="0"/>
                <a:cs typeface="Times New Roman" panose="02020603050405020304" pitchFamily="18" charset="0"/>
              </a:rPr>
              <a:t>Class Imbalance</a:t>
            </a:r>
            <a:r>
              <a:rPr lang="en-US" sz="4000" dirty="0">
                <a:latin typeface="Times New Roman" panose="02020603050405020304" pitchFamily="18" charset="0"/>
                <a:cs typeface="Times New Roman" panose="02020603050405020304" pitchFamily="18" charset="0"/>
              </a:rPr>
              <a:t>: A ~50:1 ratio heavily biased the model toward benign predictions. </a:t>
            </a:r>
          </a:p>
          <a:p>
            <a:r>
              <a:rPr lang="en-US" sz="4000" b="1" dirty="0">
                <a:latin typeface="Times New Roman" panose="02020603050405020304" pitchFamily="18" charset="0"/>
                <a:cs typeface="Times New Roman" panose="02020603050405020304" pitchFamily="18" charset="0"/>
              </a:rPr>
              <a:t>High Computational Latency: </a:t>
            </a:r>
            <a:r>
              <a:rPr lang="en-US" sz="4000" dirty="0">
                <a:latin typeface="Times New Roman" panose="02020603050405020304" pitchFamily="18" charset="0"/>
                <a:cs typeface="Times New Roman" panose="02020603050405020304" pitchFamily="18" charset="0"/>
              </a:rPr>
              <a:t>Processing large volumes of image data increased training time and resource demands. </a:t>
            </a:r>
          </a:p>
          <a:p>
            <a:r>
              <a:rPr lang="en-US" sz="4000" b="1" dirty="0">
                <a:latin typeface="Times New Roman" panose="02020603050405020304" pitchFamily="18" charset="0"/>
                <a:cs typeface="Times New Roman" panose="02020603050405020304" pitchFamily="18" charset="0"/>
              </a:rPr>
              <a:t>Dimensionality</a:t>
            </a:r>
            <a:r>
              <a:rPr lang="en-US" sz="4000" dirty="0">
                <a:latin typeface="Times New Roman" panose="02020603050405020304" pitchFamily="18" charset="0"/>
                <a:cs typeface="Times New Roman" panose="02020603050405020304" pitchFamily="18" charset="0"/>
              </a:rPr>
              <a:t>: Feature explosion from image data complicated model training and increased model complexity. </a:t>
            </a:r>
          </a:p>
          <a:p>
            <a:r>
              <a:rPr lang="en-US" sz="4000" b="1" dirty="0">
                <a:latin typeface="Times New Roman" panose="02020603050405020304" pitchFamily="18" charset="0"/>
                <a:cs typeface="Times New Roman" panose="02020603050405020304" pitchFamily="18" charset="0"/>
              </a:rPr>
              <a:t>Diagnostic Risk: </a:t>
            </a:r>
            <a:r>
              <a:rPr lang="en-US" sz="4000" dirty="0">
                <a:latin typeface="Times New Roman" panose="02020603050405020304" pitchFamily="18" charset="0"/>
                <a:cs typeface="Times New Roman" panose="02020603050405020304" pitchFamily="18" charset="0"/>
              </a:rPr>
              <a:t>Critical trade-off between maximizing recall and avoiding excessive false positives. </a:t>
            </a:r>
          </a:p>
          <a:p>
            <a:r>
              <a:rPr lang="en-US" sz="4000" b="1" dirty="0">
                <a:latin typeface="Times New Roman" panose="02020603050405020304" pitchFamily="18" charset="0"/>
                <a:cs typeface="Times New Roman" panose="02020603050405020304" pitchFamily="18" charset="0"/>
              </a:rPr>
              <a:t>Precision Constraints: </a:t>
            </a:r>
            <a:r>
              <a:rPr lang="en-US" sz="4000" dirty="0">
                <a:latin typeface="Times New Roman" panose="02020603050405020304" pitchFamily="18" charset="0"/>
                <a:cs typeface="Times New Roman" panose="02020603050405020304" pitchFamily="18" charset="0"/>
              </a:rPr>
              <a:t>Despite improvements, achieving perfect accuracy remained difficult due to the complexity of lesion patterns. </a:t>
            </a:r>
          </a:p>
        </p:txBody>
      </p:sp>
      <p:sp>
        <p:nvSpPr>
          <p:cNvPr id="25" name="Rectangle 13">
            <a:extLst>
              <a:ext uri="{FF2B5EF4-FFF2-40B4-BE49-F238E27FC236}">
                <a16:creationId xmlns:a16="http://schemas.microsoft.com/office/drawing/2014/main" id="{87AF6AC1-A9B2-3DBD-472C-23AFC3BD7C3B}"/>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BT" altLang="en-BT" sz="18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17179CF1-E28F-CCE3-3CDB-3B03E65209EF}"/>
              </a:ext>
            </a:extLst>
          </p:cNvPr>
          <p:cNvSpPr txBox="1"/>
          <p:nvPr/>
        </p:nvSpPr>
        <p:spPr>
          <a:xfrm>
            <a:off x="33304941" y="19159279"/>
            <a:ext cx="9771020" cy="9325630"/>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Our results demonstrate that the proposed framework is effective for melanoma detection. By combining ResNet18-based feature extraction with patient metadata and targeted preprocessing, the model was able to reliably identify malignant cases. Random Over Sampling and feature selection improved performance, with Logistic Regression performing best when optimized for recall. While the model is not perfectly accurate, it reduces the risk of missing critical cases. Additionally, analysis suggests that patient metadata—particularly age—has a noticeable influence on predictions, highlighting its importance alongside image features.</a:t>
            </a:r>
          </a:p>
        </p:txBody>
      </p:sp>
      <p:pic>
        <p:nvPicPr>
          <p:cNvPr id="22" name="Picture 21" descr="Close-up of a person's face with dark spots&#10;&#10;AI-generated content may be incorrect.">
            <a:extLst>
              <a:ext uri="{FF2B5EF4-FFF2-40B4-BE49-F238E27FC236}">
                <a16:creationId xmlns:a16="http://schemas.microsoft.com/office/drawing/2014/main" id="{5BD9E8B4-ECFF-BAFD-030C-E0AECB772CD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771007" y="23300426"/>
            <a:ext cx="9021728" cy="8449233"/>
          </a:xfrm>
          <a:prstGeom prst="rect">
            <a:avLst/>
          </a:prstGeom>
        </p:spPr>
      </p:pic>
      <p:sp>
        <p:nvSpPr>
          <p:cNvPr id="28" name="TextBox 27">
            <a:extLst>
              <a:ext uri="{FF2B5EF4-FFF2-40B4-BE49-F238E27FC236}">
                <a16:creationId xmlns:a16="http://schemas.microsoft.com/office/drawing/2014/main" id="{1F8FAA1E-9910-C7DD-05B0-D25B2E5E4203}"/>
              </a:ext>
            </a:extLst>
          </p:cNvPr>
          <p:cNvSpPr txBox="1"/>
          <p:nvPr/>
        </p:nvSpPr>
        <p:spPr>
          <a:xfrm>
            <a:off x="1009058" y="21385679"/>
            <a:ext cx="9567565" cy="10556736"/>
          </a:xfrm>
          <a:prstGeom prst="rect">
            <a:avLst/>
          </a:prstGeom>
          <a:noFill/>
        </p:spPr>
        <p:txBody>
          <a:bodyPr wrap="square">
            <a:spAutoFit/>
          </a:bodyPr>
          <a:lstStyle/>
          <a:p>
            <a:pPr lvl="0" eaLnBrk="0" hangingPunct="0"/>
            <a:r>
              <a:rPr lang="en-US" altLang="en-BT" sz="4000" b="1" dirty="0">
                <a:latin typeface="Times New Roman" panose="02020603050405020304" pitchFamily="18" charset="0"/>
                <a:cs typeface="Times New Roman" panose="02020603050405020304" pitchFamily="18" charset="0"/>
              </a:rPr>
              <a:t>Lesion Classification: </a:t>
            </a:r>
            <a:r>
              <a:rPr lang="en-US" altLang="en-BT" sz="4000" dirty="0">
                <a:latin typeface="Times New Roman" panose="02020603050405020304" pitchFamily="18" charset="0"/>
                <a:cs typeface="Times New Roman" panose="02020603050405020304" pitchFamily="18" charset="0"/>
              </a:rPr>
              <a:t>Develop a machine learning model to classify skin lesions as benign or malignant using image features and patient metadata.</a:t>
            </a:r>
          </a:p>
          <a:p>
            <a:pPr lvl="0" eaLnBrk="0" hangingPunct="0"/>
            <a:r>
              <a:rPr lang="en-US" altLang="en-BT" sz="4000" b="1" dirty="0">
                <a:latin typeface="Times New Roman" panose="02020603050405020304" pitchFamily="18" charset="0"/>
                <a:cs typeface="Times New Roman" panose="02020603050405020304" pitchFamily="18" charset="0"/>
              </a:rPr>
              <a:t>Class Imbalance Handling: </a:t>
            </a:r>
            <a:r>
              <a:rPr lang="en-US" altLang="en-BT" sz="4000" dirty="0">
                <a:latin typeface="Times New Roman" panose="02020603050405020304" pitchFamily="18" charset="0"/>
                <a:cs typeface="Times New Roman" panose="02020603050405020304" pitchFamily="18" charset="0"/>
              </a:rPr>
              <a:t>Apply techniques to address dataset imbalance and improve detection of rare malignant cases.</a:t>
            </a:r>
          </a:p>
          <a:p>
            <a:pPr lvl="0" eaLnBrk="0" hangingPunct="0"/>
            <a:r>
              <a:rPr lang="en-US" altLang="en-BT" sz="4000" b="1" dirty="0">
                <a:latin typeface="Times New Roman" panose="02020603050405020304" pitchFamily="18" charset="0"/>
                <a:cs typeface="Times New Roman" panose="02020603050405020304" pitchFamily="18" charset="0"/>
              </a:rPr>
              <a:t>Feature Extraction</a:t>
            </a:r>
            <a:r>
              <a:rPr lang="en-US" altLang="en-BT" sz="4000" dirty="0">
                <a:latin typeface="Times New Roman" panose="02020603050405020304" pitchFamily="18" charset="0"/>
                <a:cs typeface="Times New Roman" panose="02020603050405020304" pitchFamily="18" charset="0"/>
              </a:rPr>
              <a:t>: Use pre-trained Convolutional Neural Networks (CNNs) to extract meaningful visual features from images.</a:t>
            </a:r>
          </a:p>
          <a:p>
            <a:pPr lvl="0" eaLnBrk="0" hangingPunct="0"/>
            <a:r>
              <a:rPr lang="en-US" altLang="en-BT" sz="4000" b="1" dirty="0">
                <a:latin typeface="Times New Roman" panose="02020603050405020304" pitchFamily="18" charset="0"/>
                <a:cs typeface="Times New Roman" panose="02020603050405020304" pitchFamily="18" charset="0"/>
              </a:rPr>
              <a:t>Feature Optimization: </a:t>
            </a:r>
            <a:r>
              <a:rPr lang="en-US" altLang="en-BT" sz="4000" dirty="0">
                <a:latin typeface="Times New Roman" panose="02020603050405020304" pitchFamily="18" charset="0"/>
                <a:cs typeface="Times New Roman" panose="02020603050405020304" pitchFamily="18" charset="0"/>
              </a:rPr>
              <a:t>Apply feature selection to retain the most relevant predictors and improve model performance.</a:t>
            </a:r>
          </a:p>
          <a:p>
            <a:pPr lvl="0" eaLnBrk="0" hangingPunct="0"/>
            <a:r>
              <a:rPr lang="en-US" altLang="en-BT" sz="4000" b="1" dirty="0">
                <a:latin typeface="Times New Roman" panose="02020603050405020304" pitchFamily="18" charset="0"/>
                <a:cs typeface="Times New Roman" panose="02020603050405020304" pitchFamily="18" charset="0"/>
              </a:rPr>
              <a:t>Recall Optimization: </a:t>
            </a:r>
            <a:r>
              <a:rPr lang="en-US" altLang="en-BT" sz="4000" dirty="0">
                <a:latin typeface="Times New Roman" panose="02020603050405020304" pitchFamily="18" charset="0"/>
                <a:cs typeface="Times New Roman" panose="02020603050405020304" pitchFamily="18" charset="0"/>
              </a:rPr>
              <a:t>Optimize the model to maximize recall and reduce the risk of missing malignant cases.</a:t>
            </a:r>
          </a:p>
        </p:txBody>
      </p:sp>
      <p:sp>
        <p:nvSpPr>
          <p:cNvPr id="29" name="Rectangle 7">
            <a:extLst>
              <a:ext uri="{FF2B5EF4-FFF2-40B4-BE49-F238E27FC236}">
                <a16:creationId xmlns:a16="http://schemas.microsoft.com/office/drawing/2014/main" id="{335CA40E-FC7A-0A6A-079A-C3FF7DCB655B}"/>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BT" altLang="en-BT" sz="1800" b="0" i="0" u="none" strike="noStrike" cap="none" normalizeH="0" baseline="0" dirty="0">
              <a:ln>
                <a:noFill/>
              </a:ln>
              <a:solidFill>
                <a:schemeClr val="tx1"/>
              </a:solidFill>
              <a:effectLst/>
              <a:latin typeface="Arial" panose="020B0604020202020204" pitchFamily="34" charset="0"/>
            </a:endParaRPr>
          </a:p>
        </p:txBody>
      </p:sp>
      <p:sp>
        <p:nvSpPr>
          <p:cNvPr id="32" name="TextBox 31">
            <a:extLst>
              <a:ext uri="{FF2B5EF4-FFF2-40B4-BE49-F238E27FC236}">
                <a16:creationId xmlns:a16="http://schemas.microsoft.com/office/drawing/2014/main" id="{2B11F248-30EF-101B-7026-D0F177206AA9}"/>
              </a:ext>
            </a:extLst>
          </p:cNvPr>
          <p:cNvSpPr txBox="1"/>
          <p:nvPr/>
        </p:nvSpPr>
        <p:spPr>
          <a:xfrm>
            <a:off x="11674749" y="17521647"/>
            <a:ext cx="9567565" cy="1425005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BT" altLang="en-BT" sz="4000" b="1" dirty="0">
                <a:latin typeface="Times New Roman" panose="02020603050405020304" pitchFamily="18" charset="0"/>
                <a:cs typeface="Times New Roman" panose="02020603050405020304" pitchFamily="18" charset="0"/>
              </a:rPr>
              <a:t>Feature Extraction: </a:t>
            </a:r>
            <a:r>
              <a:rPr lang="en-BT" altLang="en-BT" sz="4000" dirty="0">
                <a:latin typeface="Times New Roman" panose="02020603050405020304" pitchFamily="18" charset="0"/>
                <a:cs typeface="Times New Roman" panose="02020603050405020304" pitchFamily="18" charset="0"/>
              </a:rPr>
              <a:t>Used ResNet18 to extract image features</a:t>
            </a:r>
          </a:p>
          <a:p>
            <a:pPr marL="0" marR="0" lvl="0" indent="0" algn="l" defTabSz="914400" rtl="0" eaLnBrk="0" fontAlgn="base" latinLnBrk="0" hangingPunct="0">
              <a:lnSpc>
                <a:spcPct val="100000"/>
              </a:lnSpc>
              <a:spcBef>
                <a:spcPct val="0"/>
              </a:spcBef>
              <a:spcAft>
                <a:spcPct val="0"/>
              </a:spcAft>
              <a:buClrTx/>
              <a:buSzTx/>
              <a:tabLst/>
            </a:pPr>
            <a:r>
              <a:rPr lang="en-BT" altLang="en-BT" sz="4000" b="1" dirty="0">
                <a:latin typeface="Times New Roman" panose="02020603050405020304" pitchFamily="18" charset="0"/>
                <a:cs typeface="Times New Roman" panose="02020603050405020304" pitchFamily="18" charset="0"/>
              </a:rPr>
              <a:t>Data Combination: </a:t>
            </a:r>
            <a:r>
              <a:rPr lang="en-BT" altLang="en-BT" sz="4000" dirty="0">
                <a:latin typeface="Times New Roman" panose="02020603050405020304" pitchFamily="18" charset="0"/>
                <a:cs typeface="Times New Roman" panose="02020603050405020304" pitchFamily="18" charset="0"/>
              </a:rPr>
              <a:t>Extracted image features were combined with patient metadata.</a:t>
            </a:r>
          </a:p>
          <a:p>
            <a:pPr marL="0" marR="0" lvl="0" indent="0" algn="l" defTabSz="914400" rtl="0" eaLnBrk="0" fontAlgn="base" latinLnBrk="0" hangingPunct="0">
              <a:lnSpc>
                <a:spcPct val="100000"/>
              </a:lnSpc>
              <a:spcBef>
                <a:spcPct val="0"/>
              </a:spcBef>
              <a:spcAft>
                <a:spcPct val="0"/>
              </a:spcAft>
              <a:buClrTx/>
              <a:buSzTx/>
              <a:tabLst/>
            </a:pPr>
            <a:r>
              <a:rPr lang="en-BT" altLang="en-BT" sz="4000" b="1" dirty="0">
                <a:latin typeface="Times New Roman" panose="02020603050405020304" pitchFamily="18" charset="0"/>
                <a:cs typeface="Times New Roman" panose="02020603050405020304" pitchFamily="18" charset="0"/>
              </a:rPr>
              <a:t>Data Preprocessing: </a:t>
            </a:r>
            <a:r>
              <a:rPr lang="en-BT" altLang="en-BT" sz="4000" dirty="0">
                <a:latin typeface="Times New Roman" panose="02020603050405020304" pitchFamily="18" charset="0"/>
                <a:cs typeface="Times New Roman" panose="02020603050405020304" pitchFamily="18" charset="0"/>
              </a:rPr>
              <a:t>Handled missing values and encoded categorical variables for modeling. </a:t>
            </a:r>
          </a:p>
          <a:p>
            <a:pPr marL="0" marR="0" lvl="0" indent="0" algn="l" defTabSz="914400" rtl="0" eaLnBrk="0" fontAlgn="base" latinLnBrk="0" hangingPunct="0">
              <a:lnSpc>
                <a:spcPct val="100000"/>
              </a:lnSpc>
              <a:spcBef>
                <a:spcPct val="0"/>
              </a:spcBef>
              <a:spcAft>
                <a:spcPct val="0"/>
              </a:spcAft>
              <a:buClrTx/>
              <a:buSzTx/>
              <a:tabLst/>
            </a:pPr>
            <a:r>
              <a:rPr lang="en-BT" altLang="en-BT" sz="4000" b="1" dirty="0">
                <a:latin typeface="Times New Roman" panose="02020603050405020304" pitchFamily="18" charset="0"/>
                <a:cs typeface="Times New Roman" panose="02020603050405020304" pitchFamily="18" charset="0"/>
              </a:rPr>
              <a:t>Feature Selection: </a:t>
            </a:r>
            <a:r>
              <a:rPr lang="en-BT" altLang="en-BT" sz="4000" dirty="0">
                <a:latin typeface="Times New Roman" panose="02020603050405020304" pitchFamily="18" charset="0"/>
                <a:cs typeface="Times New Roman" panose="02020603050405020304" pitchFamily="18" charset="0"/>
              </a:rPr>
              <a:t>Reduced dimensionality by selecting the most relevant features for classification .</a:t>
            </a:r>
          </a:p>
          <a:p>
            <a:pPr marL="0" marR="0" lvl="0" indent="0" algn="l" defTabSz="914400" rtl="0" eaLnBrk="0" fontAlgn="base" latinLnBrk="0" hangingPunct="0">
              <a:lnSpc>
                <a:spcPct val="100000"/>
              </a:lnSpc>
              <a:spcBef>
                <a:spcPct val="0"/>
              </a:spcBef>
              <a:spcAft>
                <a:spcPct val="0"/>
              </a:spcAft>
              <a:buClrTx/>
              <a:buSzTx/>
              <a:tabLst/>
            </a:pPr>
            <a:r>
              <a:rPr lang="en-BT" altLang="en-BT" sz="4000" b="1" dirty="0">
                <a:latin typeface="Times New Roman" panose="02020603050405020304" pitchFamily="18" charset="0"/>
                <a:cs typeface="Times New Roman" panose="02020603050405020304" pitchFamily="18" charset="0"/>
              </a:rPr>
              <a:t>Class Balancing: </a:t>
            </a:r>
            <a:r>
              <a:rPr lang="en-BT" altLang="en-BT" sz="4000" dirty="0">
                <a:latin typeface="Times New Roman" panose="02020603050405020304" pitchFamily="18" charset="0"/>
                <a:cs typeface="Times New Roman" panose="02020603050405020304" pitchFamily="18" charset="0"/>
              </a:rPr>
              <a:t>Applied Random Over Sampling to address class imbalance </a:t>
            </a:r>
          </a:p>
          <a:p>
            <a:pPr marL="0" marR="0" lvl="0" indent="0" algn="l" defTabSz="914400" rtl="0" eaLnBrk="0" fontAlgn="base" latinLnBrk="0" hangingPunct="0">
              <a:lnSpc>
                <a:spcPct val="100000"/>
              </a:lnSpc>
              <a:spcBef>
                <a:spcPct val="0"/>
              </a:spcBef>
              <a:spcAft>
                <a:spcPct val="0"/>
              </a:spcAft>
              <a:buClrTx/>
              <a:buSzTx/>
              <a:tabLst/>
            </a:pPr>
            <a:r>
              <a:rPr lang="en-BT" altLang="en-BT" sz="4000" b="1" dirty="0">
                <a:latin typeface="Times New Roman" panose="02020603050405020304" pitchFamily="18" charset="0"/>
                <a:cs typeface="Times New Roman" panose="02020603050405020304" pitchFamily="18" charset="0"/>
              </a:rPr>
              <a:t>Model Development: </a:t>
            </a:r>
            <a:r>
              <a:rPr lang="en-BT" altLang="en-BT" sz="4000" dirty="0">
                <a:latin typeface="Times New Roman" panose="02020603050405020304" pitchFamily="18" charset="0"/>
                <a:cs typeface="Times New Roman" panose="02020603050405020304" pitchFamily="18" charset="0"/>
              </a:rPr>
              <a:t>Evaluated multiple models, with Logistic Regression performing the best. </a:t>
            </a:r>
          </a:p>
          <a:p>
            <a:pPr marL="0" marR="0" lvl="0" indent="0" algn="l" defTabSz="914400" rtl="0" eaLnBrk="0" fontAlgn="base" latinLnBrk="0" hangingPunct="0">
              <a:lnSpc>
                <a:spcPct val="100000"/>
              </a:lnSpc>
              <a:spcBef>
                <a:spcPct val="0"/>
              </a:spcBef>
              <a:spcAft>
                <a:spcPct val="0"/>
              </a:spcAft>
              <a:buClrTx/>
              <a:buSzTx/>
              <a:tabLst/>
            </a:pPr>
            <a:r>
              <a:rPr lang="en-BT" altLang="en-BT" sz="4000" b="1" dirty="0">
                <a:latin typeface="Times New Roman" panose="02020603050405020304" pitchFamily="18" charset="0"/>
                <a:cs typeface="Times New Roman" panose="02020603050405020304" pitchFamily="18" charset="0"/>
              </a:rPr>
              <a:t>Model Optimization: </a:t>
            </a:r>
            <a:r>
              <a:rPr lang="en-BT" altLang="en-BT" sz="4000" dirty="0">
                <a:latin typeface="Times New Roman" panose="02020603050405020304" pitchFamily="18" charset="0"/>
                <a:cs typeface="Times New Roman" panose="02020603050405020304" pitchFamily="18" charset="0"/>
              </a:rPr>
              <a:t>Tuned thresholds to prioritize recall and improve malignant case detection. </a:t>
            </a:r>
          </a:p>
          <a:p>
            <a:pPr marL="0" marR="0" lvl="0" indent="0" algn="l" defTabSz="914400" rtl="0" eaLnBrk="0" fontAlgn="base" latinLnBrk="0" hangingPunct="0">
              <a:lnSpc>
                <a:spcPct val="100000"/>
              </a:lnSpc>
              <a:spcBef>
                <a:spcPct val="0"/>
              </a:spcBef>
              <a:spcAft>
                <a:spcPct val="0"/>
              </a:spcAft>
              <a:buClrTx/>
              <a:buSzTx/>
              <a:tabLst/>
            </a:pPr>
            <a:r>
              <a:rPr lang="en-BT" altLang="en-BT" sz="4000" b="1" dirty="0">
                <a:latin typeface="Times New Roman" panose="02020603050405020304" pitchFamily="18" charset="0"/>
                <a:cs typeface="Times New Roman" panose="02020603050405020304" pitchFamily="18" charset="0"/>
              </a:rPr>
              <a:t>Evaluation: </a:t>
            </a:r>
            <a:r>
              <a:rPr lang="en-BT" altLang="en-BT" sz="4000" dirty="0">
                <a:latin typeface="Times New Roman" panose="02020603050405020304" pitchFamily="18" charset="0"/>
                <a:cs typeface="Times New Roman" panose="02020603050405020304" pitchFamily="18" charset="0"/>
              </a:rPr>
              <a:t>Assessed performance using recall-focused metrics </a:t>
            </a:r>
          </a:p>
          <a:p>
            <a:pPr marL="0" marR="0" lvl="0" indent="0" algn="l" defTabSz="914400" rtl="0" eaLnBrk="0" fontAlgn="base" latinLnBrk="0" hangingPunct="0">
              <a:lnSpc>
                <a:spcPct val="100000"/>
              </a:lnSpc>
              <a:spcBef>
                <a:spcPct val="0"/>
              </a:spcBef>
              <a:spcAft>
                <a:spcPct val="0"/>
              </a:spcAft>
              <a:buClrTx/>
              <a:buSzTx/>
              <a:tabLst/>
            </a:pPr>
            <a:r>
              <a:rPr lang="en-BT" altLang="en-BT" sz="4000" b="1" dirty="0">
                <a:latin typeface="Times New Roman" panose="02020603050405020304" pitchFamily="18" charset="0"/>
                <a:cs typeface="Times New Roman" panose="02020603050405020304" pitchFamily="18" charset="0"/>
              </a:rPr>
              <a:t>Prediction Pipeline: </a:t>
            </a:r>
            <a:r>
              <a:rPr lang="en-BT" altLang="en-BT" sz="4000" dirty="0">
                <a:latin typeface="Times New Roman" panose="02020603050405020304" pitchFamily="18" charset="0"/>
                <a:cs typeface="Times New Roman" panose="02020603050405020304" pitchFamily="18" charset="0"/>
              </a:rPr>
              <a:t>Generated a final prediction pipeline with probability scores for new inputs.</a:t>
            </a:r>
          </a:p>
        </p:txBody>
      </p:sp>
      <p:sp>
        <p:nvSpPr>
          <p:cNvPr id="35" name="TextBox 34">
            <a:extLst>
              <a:ext uri="{FF2B5EF4-FFF2-40B4-BE49-F238E27FC236}">
                <a16:creationId xmlns:a16="http://schemas.microsoft.com/office/drawing/2014/main" id="{4CF437FC-3D13-7832-AB1F-37773397D45F}"/>
              </a:ext>
            </a:extLst>
          </p:cNvPr>
          <p:cNvSpPr txBox="1"/>
          <p:nvPr/>
        </p:nvSpPr>
        <p:spPr>
          <a:xfrm>
            <a:off x="33304941" y="6568965"/>
            <a:ext cx="9752021" cy="6247864"/>
          </a:xfrm>
          <a:prstGeom prst="rect">
            <a:avLst/>
          </a:prstGeom>
          <a:noFill/>
        </p:spPr>
        <p:txBody>
          <a:bodyPr wrap="square">
            <a:spAutoFit/>
          </a:bodyPr>
          <a:lstStyle/>
          <a:p>
            <a:r>
              <a:rPr lang="en-US" sz="4000" b="1" dirty="0">
                <a:latin typeface="Times New Roman" panose="02020603050405020304" pitchFamily="18" charset="0"/>
                <a:cs typeface="Times New Roman" panose="02020603050405020304" pitchFamily="18" charset="0"/>
              </a:rPr>
              <a:t>Recall</a:t>
            </a:r>
            <a:r>
              <a:rPr lang="en-US" sz="4000" dirty="0">
                <a:latin typeface="Times New Roman" panose="02020603050405020304" pitchFamily="18" charset="0"/>
                <a:cs typeface="Times New Roman" panose="02020603050405020304" pitchFamily="18" charset="0"/>
              </a:rPr>
              <a:t>: 0.78, primary metric used to identify malignant cases and minimize false negatives.</a:t>
            </a:r>
          </a:p>
          <a:p>
            <a:r>
              <a:rPr lang="en-US" sz="4000" b="1" dirty="0">
                <a:latin typeface="Times New Roman" panose="02020603050405020304" pitchFamily="18" charset="0"/>
                <a:cs typeface="Times New Roman" panose="02020603050405020304" pitchFamily="18" charset="0"/>
              </a:rPr>
              <a:t>Precision</a:t>
            </a:r>
            <a:r>
              <a:rPr lang="en-US" sz="4000" dirty="0">
                <a:latin typeface="Times New Roman" panose="02020603050405020304" pitchFamily="18" charset="0"/>
                <a:cs typeface="Times New Roman" panose="02020603050405020304" pitchFamily="18" charset="0"/>
              </a:rPr>
              <a:t>: 0.05, indicates a higher number of false positives due to the model prioritizing recall.</a:t>
            </a:r>
          </a:p>
          <a:p>
            <a:r>
              <a:rPr lang="en-US" sz="4000" b="1" dirty="0">
                <a:latin typeface="Times New Roman" panose="02020603050405020304" pitchFamily="18" charset="0"/>
                <a:cs typeface="Times New Roman" panose="02020603050405020304" pitchFamily="18" charset="0"/>
              </a:rPr>
              <a:t>F1-Score</a:t>
            </a:r>
            <a:r>
              <a:rPr lang="en-US" sz="4000" dirty="0">
                <a:latin typeface="Times New Roman" panose="02020603050405020304" pitchFamily="18" charset="0"/>
                <a:cs typeface="Times New Roman" panose="02020603050405020304" pitchFamily="18" charset="0"/>
              </a:rPr>
              <a:t>: 0.10, shows the trade-off between precision and recall in an imbalanced setting.</a:t>
            </a:r>
          </a:p>
          <a:p>
            <a:r>
              <a:rPr lang="en-US" sz="4000" b="1" dirty="0">
                <a:latin typeface="Times New Roman" panose="02020603050405020304" pitchFamily="18" charset="0"/>
                <a:cs typeface="Times New Roman" panose="02020603050405020304" pitchFamily="18" charset="0"/>
              </a:rPr>
              <a:t>AUC-ROC Curve</a:t>
            </a:r>
            <a:r>
              <a:rPr lang="en-US" sz="4000" dirty="0">
                <a:latin typeface="Times New Roman" panose="02020603050405020304" pitchFamily="18" charset="0"/>
                <a:cs typeface="Times New Roman" panose="02020603050405020304" pitchFamily="18" charset="0"/>
              </a:rPr>
              <a:t>: 0.846, demonstrating strong ability to distinguish between benign and malignant classes across thresholds.</a:t>
            </a:r>
          </a:p>
        </p:txBody>
      </p:sp>
      <p:pic>
        <p:nvPicPr>
          <p:cNvPr id="40" name="Picture 39" descr="A blue and white graph&#10;&#10;AI-generated content may be incorrect.">
            <a:extLst>
              <a:ext uri="{FF2B5EF4-FFF2-40B4-BE49-F238E27FC236}">
                <a16:creationId xmlns:a16="http://schemas.microsoft.com/office/drawing/2014/main" id="{3EF12FAD-3C7E-EDBA-5CFA-9509A0BD953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3353998" y="12838178"/>
            <a:ext cx="6008746" cy="5068043"/>
          </a:xfrm>
          <a:prstGeom prst="rect">
            <a:avLst/>
          </a:prstGeom>
        </p:spPr>
      </p:pic>
      <p:sp>
        <p:nvSpPr>
          <p:cNvPr id="42" name="TextBox 41">
            <a:extLst>
              <a:ext uri="{FF2B5EF4-FFF2-40B4-BE49-F238E27FC236}">
                <a16:creationId xmlns:a16="http://schemas.microsoft.com/office/drawing/2014/main" id="{14772F24-38F9-6D7E-D9D1-58F818EE8130}"/>
              </a:ext>
            </a:extLst>
          </p:cNvPr>
          <p:cNvSpPr txBox="1"/>
          <p:nvPr/>
        </p:nvSpPr>
        <p:spPr>
          <a:xfrm>
            <a:off x="33189850" y="30133580"/>
            <a:ext cx="9982201" cy="1938992"/>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SIIM-ISIC. SIIM-ISIC Melanoma Classification Dataset, Kaggle Competition, 2020.</a:t>
            </a:r>
            <a:endParaRPr lang="en-BT" dirty="0">
              <a:latin typeface="Times New Roman" panose="02020603050405020304" pitchFamily="18" charset="0"/>
              <a:cs typeface="Times New Roman" panose="02020603050405020304" pitchFamily="18" charset="0"/>
            </a:endParaRPr>
          </a:p>
        </p:txBody>
      </p:sp>
      <p:pic>
        <p:nvPicPr>
          <p:cNvPr id="15" name="Picture 14" descr="A screenshot of a screenshot of a skin injury&#10;&#10;AI-generated content may be incorrect.">
            <a:extLst>
              <a:ext uri="{FF2B5EF4-FFF2-40B4-BE49-F238E27FC236}">
                <a16:creationId xmlns:a16="http://schemas.microsoft.com/office/drawing/2014/main" id="{9E96EFA2-7C52-1097-1658-36869932557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2771007" y="14916541"/>
            <a:ext cx="8956184" cy="8134923"/>
          </a:xfrm>
          <a:prstGeom prst="rect">
            <a:avLst/>
          </a:prstGeom>
        </p:spPr>
      </p:pic>
      <p:pic>
        <p:nvPicPr>
          <p:cNvPr id="17" name="Picture 16" descr="Screens screenshot of a screenshot of a test results&#10;&#10;AI-generated content may be incorrect.">
            <a:extLst>
              <a:ext uri="{FF2B5EF4-FFF2-40B4-BE49-F238E27FC236}">
                <a16:creationId xmlns:a16="http://schemas.microsoft.com/office/drawing/2014/main" id="{2116EDB0-A87E-5010-79A6-98FC33C9B5F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771007" y="6743965"/>
            <a:ext cx="8956184" cy="7923614"/>
          </a:xfrm>
          <a:prstGeom prst="rect">
            <a:avLst/>
          </a:prstGeom>
        </p:spPr>
      </p:pic>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16378</TotalTime>
  <Words>633</Words>
  <Application>Microsoft Macintosh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vt:i4>
      </vt:variant>
    </vt:vector>
  </HeadingPairs>
  <TitlesOfParts>
    <vt:vector size="8" baseType="lpstr">
      <vt:lpstr>Arial</vt:lpstr>
      <vt:lpstr>Arial Black</vt:lpstr>
      <vt:lpstr>Arial Narrow</vt:lpstr>
      <vt:lpstr>Times New Roman</vt:lpstr>
      <vt:lpstr>Custom Design</vt:lpstr>
      <vt:lpstr>1_Custom Design</vt:lpstr>
      <vt:lpstr>2_Custom Design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48x36 Poster Template</dc:title>
  <dc:subject>Free PowerPoint poster templates</dc:subject>
  <dc:creator>A. Kotoulas</dc:creator>
  <cp:keywords>poster presentation, poster design, poster template</cp:keywords>
  <dc:description>Non-authorized printing of this poster template by any commercial printing service other than PosterPresentations.com is strictly prohibited._x000d_
Non-profit educational printing centers are exempt._x000d_
To obtain printing authorization call:_x000d_
1.866.649.3004_x000d_
_x000d_
© 2007 Canterbury Media Services, Inc</dc:description>
  <cp:lastModifiedBy>Ugyen Thukzom</cp:lastModifiedBy>
  <cp:revision>550</cp:revision>
  <cp:lastPrinted>2014-03-04T05:03:24Z</cp:lastPrinted>
  <dcterms:created xsi:type="dcterms:W3CDTF">2005-05-18T01:24:28Z</dcterms:created>
  <dcterms:modified xsi:type="dcterms:W3CDTF">2026-04-14T06:18:41Z</dcterms:modified>
  <cp:category>Powerpoint poster templates</cp:category>
</cp:coreProperties>
</file>